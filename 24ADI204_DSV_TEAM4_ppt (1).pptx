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3"/>
  </p:notesMasterIdLst>
  <p:sldIdLst>
    <p:sldId id="256" r:id="rId5"/>
    <p:sldId id="257" r:id="rId6"/>
    <p:sldId id="272" r:id="rId7"/>
    <p:sldId id="258" r:id="rId8"/>
    <p:sldId id="259" r:id="rId9"/>
    <p:sldId id="260" r:id="rId10"/>
    <p:sldId id="261" r:id="rId11"/>
    <p:sldId id="262" r:id="rId12"/>
    <p:sldId id="263" r:id="rId13"/>
    <p:sldId id="264" r:id="rId14"/>
    <p:sldId id="276" r:id="rId15"/>
    <p:sldId id="265" r:id="rId16"/>
    <p:sldId id="277" r:id="rId17"/>
    <p:sldId id="278" r:id="rId18"/>
    <p:sldId id="279" r:id="rId19"/>
    <p:sldId id="266" r:id="rId20"/>
    <p:sldId id="280" r:id="rId21"/>
    <p:sldId id="267" r:id="rId22"/>
    <p:sldId id="281" r:id="rId23"/>
    <p:sldId id="268" r:id="rId24"/>
    <p:sldId id="269" r:id="rId25"/>
    <p:sldId id="270" r:id="rId26"/>
    <p:sldId id="282" r:id="rId27"/>
    <p:sldId id="283" r:id="rId28"/>
    <p:sldId id="271" r:id="rId29"/>
    <p:sldId id="273" r:id="rId30"/>
    <p:sldId id="274" r:id="rId31"/>
    <p:sldId id="275" r:id="rId32"/>
  </p:sldIdLst>
  <p:sldSz cx="18288000" cy="10287000"/>
  <p:notesSz cx="6858000" cy="9144000"/>
  <p:embeddedFontLst>
    <p:embeddedFont>
      <p:font typeface="Nunito" pitchFamily="2" charset="0"/>
      <p:regular r:id="rId34"/>
      <p:bold r:id="rId35"/>
      <p:italic r:id="rId36"/>
      <p:boldItalic r:id="rId37"/>
    </p:embeddedFont>
    <p:embeddedFont>
      <p:font typeface="Poppins" panose="00000500000000000000" pitchFamily="2" charset="0"/>
      <p:regular r:id="rId38"/>
      <p:bold r:id="rId39"/>
      <p:italic r:id="rId40"/>
      <p:boldItalic r:id="rId41"/>
    </p:embeddedFont>
    <p:embeddedFont>
      <p:font typeface="Poppins Bold Italics" panose="020B0604020202020204" charset="0"/>
      <p:regular r:id="rId42"/>
    </p:embeddedFont>
    <p:embeddedFont>
      <p:font typeface="Times New Roman Bold" panose="02020803070505020304" pitchFamily="18" charset="0"/>
      <p:regular r:id="rId43"/>
      <p:bold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4DB9D-903D-7C02-369C-AB72044816DE}" v="1" dt="2026-04-16T05:16:21.889"/>
    <p1510:client id="{5A73844C-8BE5-0AB4-8170-D0DB624E8CC6}" v="1" dt="2026-04-16T05:26:38.1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9F07F3-58D7-47B5-86B5-11B4DA120EF2}" type="datetimeFigureOut">
              <a:rPr lang="en-IN" smtClean="0"/>
              <a:t>15-04-2026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99631D-9AEB-4C63-B327-D0BB78DBD075}" type="slidenum">
              <a:rPr lang="en-IN" smtClean="0"/>
              <a:t>‹#›</a:t>
            </a:fld>
            <a:endParaRPr lang="en-IN"/>
          </a:p>
        </p:txBody>
      </p:sp>
    </p:spTree>
    <p:extLst>
      <p:ext uri="{BB962C8B-B14F-4D97-AF65-F5344CB8AC3E}">
        <p14:creationId xmlns:p14="http://schemas.microsoft.com/office/powerpoint/2010/main" val="2670218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99631D-9AEB-4C63-B327-D0BB78DBD075}" type="slidenum">
              <a:rPr lang="en-IN" smtClean="0"/>
              <a:t>25</a:t>
            </a:fld>
            <a:endParaRPr lang="en-IN"/>
          </a:p>
        </p:txBody>
      </p:sp>
    </p:spTree>
    <p:extLst>
      <p:ext uri="{BB962C8B-B14F-4D97-AF65-F5344CB8AC3E}">
        <p14:creationId xmlns:p14="http://schemas.microsoft.com/office/powerpoint/2010/main" val="4153546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github.com/JANASREE-P/24ADI004_DSV_TEAM4.git" TargetMode="External"/><Relationship Id="rId4" Type="http://schemas.openxmlformats.org/officeDocument/2006/relationships/hyperlink" Target="https://drive.google.com/file/d/1Tg8PsIE0QLwRdZzDV8T1nD1aMzpvKsk/view?usp=drivesd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2" name="Freeform 2"/>
          <p:cNvSpPr/>
          <p:nvPr/>
        </p:nvSpPr>
        <p:spPr>
          <a:xfrm>
            <a:off x="73863" y="791188"/>
            <a:ext cx="2488943" cy="2529537"/>
          </a:xfrm>
          <a:custGeom>
            <a:avLst/>
            <a:gdLst/>
            <a:ahLst/>
            <a:cxnLst/>
            <a:rect l="l" t="t" r="r" b="b"/>
            <a:pathLst>
              <a:path w="2488943" h="2529537">
                <a:moveTo>
                  <a:pt x="0" y="0"/>
                </a:moveTo>
                <a:lnTo>
                  <a:pt x="2488943" y="0"/>
                </a:lnTo>
                <a:lnTo>
                  <a:pt x="2488943" y="2529538"/>
                </a:lnTo>
                <a:lnTo>
                  <a:pt x="0" y="2529538"/>
                </a:lnTo>
                <a:lnTo>
                  <a:pt x="0" y="0"/>
                </a:lnTo>
                <a:close/>
              </a:path>
            </a:pathLst>
          </a:custGeom>
          <a:blipFill>
            <a:blip r:embed="rId2"/>
            <a:stretch>
              <a:fillRect l="-15070" t="-4622" r="-22184" b="-2965"/>
            </a:stretch>
          </a:blipFill>
        </p:spPr>
        <p:txBody>
          <a:bodyPr/>
          <a:lstStyle/>
          <a:p>
            <a:endParaRPr lang="en-IN"/>
          </a:p>
        </p:txBody>
      </p:sp>
      <p:sp>
        <p:nvSpPr>
          <p:cNvPr id="3" name="Freeform 3"/>
          <p:cNvSpPr/>
          <p:nvPr/>
        </p:nvSpPr>
        <p:spPr>
          <a:xfrm>
            <a:off x="14147887" y="1028700"/>
            <a:ext cx="4049893" cy="1883200"/>
          </a:xfrm>
          <a:custGeom>
            <a:avLst/>
            <a:gdLst/>
            <a:ahLst/>
            <a:cxnLst/>
            <a:rect l="l" t="t" r="r" b="b"/>
            <a:pathLst>
              <a:path w="4049893" h="1883200">
                <a:moveTo>
                  <a:pt x="0" y="0"/>
                </a:moveTo>
                <a:lnTo>
                  <a:pt x="4049894" y="0"/>
                </a:lnTo>
                <a:lnTo>
                  <a:pt x="4049894" y="1883200"/>
                </a:lnTo>
                <a:lnTo>
                  <a:pt x="0" y="188320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2967219" y="947057"/>
            <a:ext cx="11180668" cy="2507036"/>
          </a:xfrm>
          <a:prstGeom prst="rect">
            <a:avLst/>
          </a:prstGeom>
        </p:spPr>
        <p:txBody>
          <a:bodyPr lIns="0" tIns="0" rIns="0" bIns="0" rtlCol="0" anchor="t">
            <a:spAutoFit/>
          </a:bodyPr>
          <a:lstStyle/>
          <a:p>
            <a:pPr algn="ctr">
              <a:lnSpc>
                <a:spcPts val="6996"/>
              </a:lnSpc>
            </a:pPr>
            <a:r>
              <a:rPr lang="en-US" sz="4997" b="1">
                <a:solidFill>
                  <a:schemeClr val="tx2">
                    <a:lumMod val="75000"/>
                  </a:schemeClr>
                </a:solidFill>
                <a:latin typeface="Times New Roman Bold"/>
                <a:ea typeface="Times New Roman Bold"/>
                <a:cs typeface="Times New Roman Bold"/>
                <a:sym typeface="Times New Roman Bold"/>
              </a:rPr>
              <a:t>Artificial Intelligence and Data Science</a:t>
            </a:r>
          </a:p>
          <a:p>
            <a:pPr algn="ctr">
              <a:lnSpc>
                <a:spcPts val="6436"/>
              </a:lnSpc>
              <a:spcBef>
                <a:spcPct val="0"/>
              </a:spcBef>
            </a:pPr>
            <a:r>
              <a:rPr lang="en-US" sz="4597" b="1">
                <a:solidFill>
                  <a:schemeClr val="tx2">
                    <a:lumMod val="75000"/>
                  </a:schemeClr>
                </a:solidFill>
                <a:latin typeface="Times New Roman Bold"/>
                <a:ea typeface="Times New Roman Bold"/>
                <a:cs typeface="Times New Roman Bold"/>
                <a:sym typeface="Times New Roman Bold"/>
              </a:rPr>
              <a:t>Data Science and Visualization</a:t>
            </a:r>
          </a:p>
          <a:p>
            <a:pPr algn="ctr">
              <a:lnSpc>
                <a:spcPts val="6436"/>
              </a:lnSpc>
              <a:spcBef>
                <a:spcPct val="0"/>
              </a:spcBef>
            </a:pPr>
            <a:r>
              <a:rPr lang="en-US" sz="4597" b="1">
                <a:solidFill>
                  <a:schemeClr val="tx2">
                    <a:lumMod val="75000"/>
                  </a:schemeClr>
                </a:solidFill>
                <a:latin typeface="Times New Roman Bold"/>
                <a:ea typeface="Times New Roman Bold"/>
                <a:cs typeface="Times New Roman Bold"/>
                <a:sym typeface="Times New Roman Bold"/>
              </a:rPr>
              <a:t>24ADI204</a:t>
            </a:r>
          </a:p>
        </p:txBody>
      </p:sp>
      <p:sp>
        <p:nvSpPr>
          <p:cNvPr id="5" name="TextBox 5"/>
          <p:cNvSpPr txBox="1"/>
          <p:nvPr/>
        </p:nvSpPr>
        <p:spPr>
          <a:xfrm>
            <a:off x="3800143" y="4229467"/>
            <a:ext cx="10410901" cy="1262092"/>
          </a:xfrm>
          <a:prstGeom prst="rect">
            <a:avLst/>
          </a:prstGeom>
        </p:spPr>
        <p:txBody>
          <a:bodyPr lIns="0" tIns="0" rIns="0" bIns="0" rtlCol="0" anchor="t">
            <a:spAutoFit/>
          </a:bodyPr>
          <a:lstStyle/>
          <a:p>
            <a:pPr algn="ctr">
              <a:lnSpc>
                <a:spcPts val="4985"/>
              </a:lnSpc>
            </a:pPr>
            <a:r>
              <a:rPr lang="en-US" sz="3561" b="1" i="1">
                <a:solidFill>
                  <a:schemeClr val="tx2">
                    <a:lumMod val="75000"/>
                  </a:schemeClr>
                </a:solidFill>
                <a:latin typeface="Poppins Bold Italics"/>
                <a:ea typeface="Poppins Bold Italics"/>
                <a:cs typeface="Poppins Bold Italics"/>
                <a:sym typeface="Poppins Bold Italics"/>
              </a:rPr>
              <a:t>DATA-VIZ HACK-A-BIT (2025-2026) </a:t>
            </a:r>
          </a:p>
          <a:p>
            <a:pPr algn="ctr">
              <a:lnSpc>
                <a:spcPts val="4985"/>
              </a:lnSpc>
              <a:spcBef>
                <a:spcPct val="0"/>
              </a:spcBef>
            </a:pPr>
            <a:endParaRPr lang="en-US" sz="3561" b="1" i="1">
              <a:solidFill>
                <a:srgbClr val="000000"/>
              </a:solidFill>
              <a:latin typeface="Poppins Bold Italics"/>
              <a:ea typeface="Poppins Bold Italics"/>
              <a:cs typeface="Poppins Bold Italics"/>
              <a:sym typeface="Poppins Bold Italics"/>
            </a:endParaRPr>
          </a:p>
        </p:txBody>
      </p:sp>
      <p:sp>
        <p:nvSpPr>
          <p:cNvPr id="6" name="TextBox 6"/>
          <p:cNvSpPr txBox="1"/>
          <p:nvPr/>
        </p:nvSpPr>
        <p:spPr>
          <a:xfrm>
            <a:off x="6736436" y="5764667"/>
            <a:ext cx="3855363" cy="620426"/>
          </a:xfrm>
          <a:prstGeom prst="rect">
            <a:avLst/>
          </a:prstGeom>
        </p:spPr>
        <p:txBody>
          <a:bodyPr wrap="square" lIns="0" tIns="0" rIns="0" bIns="0" rtlCol="0" anchor="t">
            <a:spAutoFit/>
          </a:bodyPr>
          <a:lstStyle/>
          <a:p>
            <a:pPr algn="ctr">
              <a:lnSpc>
                <a:spcPts val="5067"/>
              </a:lnSpc>
              <a:spcBef>
                <a:spcPct val="0"/>
              </a:spcBef>
            </a:pPr>
            <a:r>
              <a:rPr lang="en-US" sz="3619">
                <a:solidFill>
                  <a:schemeClr val="tx2">
                    <a:lumMod val="75000"/>
                  </a:schemeClr>
                </a:solidFill>
                <a:latin typeface="Poppins"/>
                <a:ea typeface="Poppins"/>
                <a:cs typeface="Poppins"/>
                <a:sym typeface="Poppins"/>
              </a:rPr>
              <a:t>Team Number:4  </a:t>
            </a:r>
          </a:p>
        </p:txBody>
      </p:sp>
      <p:sp>
        <p:nvSpPr>
          <p:cNvPr id="7" name="TextBox 7"/>
          <p:cNvSpPr txBox="1"/>
          <p:nvPr/>
        </p:nvSpPr>
        <p:spPr>
          <a:xfrm>
            <a:off x="4419600" y="6658201"/>
            <a:ext cx="11034641" cy="3490636"/>
          </a:xfrm>
          <a:prstGeom prst="rect">
            <a:avLst/>
          </a:prstGeom>
        </p:spPr>
        <p:txBody>
          <a:bodyPr lIns="0" tIns="0" rIns="0" bIns="0" rtlCol="0" anchor="t">
            <a:spAutoFit/>
          </a:bodyPr>
          <a:lstStyle/>
          <a:p>
            <a:pPr algn="l">
              <a:lnSpc>
                <a:spcPts val="5471"/>
              </a:lnSpc>
            </a:pPr>
            <a:r>
              <a:rPr lang="en-US" sz="3908">
                <a:solidFill>
                  <a:schemeClr val="tx2">
                    <a:lumMod val="75000"/>
                  </a:schemeClr>
                </a:solidFill>
                <a:latin typeface="Poppins"/>
                <a:ea typeface="Poppins"/>
                <a:cs typeface="Poppins"/>
                <a:sym typeface="Poppins"/>
              </a:rPr>
              <a:t>1. ADHIRAJ S 24BAD003</a:t>
            </a:r>
          </a:p>
          <a:p>
            <a:pPr algn="l">
              <a:lnSpc>
                <a:spcPts val="5471"/>
              </a:lnSpc>
            </a:pPr>
            <a:r>
              <a:rPr lang="en-US" sz="3908">
                <a:solidFill>
                  <a:schemeClr val="tx2">
                    <a:lumMod val="75000"/>
                  </a:schemeClr>
                </a:solidFill>
                <a:latin typeface="Poppins"/>
                <a:ea typeface="Poppins"/>
                <a:cs typeface="Poppins"/>
                <a:sym typeface="Poppins"/>
              </a:rPr>
              <a:t>2.JANASREE P 24BAD040</a:t>
            </a:r>
          </a:p>
          <a:p>
            <a:pPr algn="l">
              <a:lnSpc>
                <a:spcPts val="5471"/>
              </a:lnSpc>
            </a:pPr>
            <a:r>
              <a:rPr lang="en-US" sz="3908">
                <a:solidFill>
                  <a:schemeClr val="tx2">
                    <a:lumMod val="75000"/>
                  </a:schemeClr>
                </a:solidFill>
                <a:latin typeface="Poppins"/>
                <a:ea typeface="Poppins"/>
                <a:cs typeface="Poppins"/>
                <a:sym typeface="Poppins"/>
              </a:rPr>
              <a:t>3.KRITHIKA K 24BAD061</a:t>
            </a:r>
          </a:p>
          <a:p>
            <a:pPr algn="l">
              <a:lnSpc>
                <a:spcPts val="5471"/>
              </a:lnSpc>
            </a:pPr>
            <a:r>
              <a:rPr lang="en-US" sz="3908">
                <a:solidFill>
                  <a:schemeClr val="tx2">
                    <a:lumMod val="75000"/>
                  </a:schemeClr>
                </a:solidFill>
                <a:latin typeface="Poppins"/>
                <a:ea typeface="Poppins"/>
                <a:cs typeface="Poppins"/>
                <a:sym typeface="Poppins"/>
              </a:rPr>
              <a:t>4. MADHUSRI S 24BAD065</a:t>
            </a:r>
          </a:p>
          <a:p>
            <a:pPr algn="l">
              <a:lnSpc>
                <a:spcPts val="5471"/>
              </a:lnSpc>
              <a:spcBef>
                <a:spcPct val="0"/>
              </a:spcBef>
            </a:pPr>
            <a:endParaRPr lang="en-US" sz="3908">
              <a:solidFill>
                <a:schemeClr val="tx2">
                  <a:lumMod val="75000"/>
                </a:schemeClr>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4" name="TextBox 4"/>
          <p:cNvSpPr txBox="1"/>
          <p:nvPr/>
        </p:nvSpPr>
        <p:spPr>
          <a:xfrm>
            <a:off x="17259300" y="-361652"/>
            <a:ext cx="1028700" cy="10648652"/>
          </a:xfrm>
          <a:prstGeom prst="rect">
            <a:avLst/>
          </a:prstGeom>
        </p:spPr>
        <p:txBody>
          <a:bodyPr lIns="50800" tIns="50800" rIns="50800" bIns="50800" rtlCol="0" anchor="ctr"/>
          <a:lstStyle/>
          <a:p>
            <a:pPr algn="ctr">
              <a:lnSpc>
                <a:spcPts val="3287"/>
              </a:lnSpc>
            </a:pPr>
            <a:endParaRPr/>
          </a:p>
        </p:txBody>
      </p:sp>
      <p:sp>
        <p:nvSpPr>
          <p:cNvPr id="5" name="TextBox 5"/>
          <p:cNvSpPr txBox="1"/>
          <p:nvPr/>
        </p:nvSpPr>
        <p:spPr>
          <a:xfrm>
            <a:off x="3350419" y="1235588"/>
            <a:ext cx="10422463" cy="1154162"/>
          </a:xfrm>
          <a:prstGeom prst="rect">
            <a:avLst/>
          </a:prstGeom>
        </p:spPr>
        <p:txBody>
          <a:bodyPr lIns="0" tIns="0" rIns="0" bIns="0" rtlCol="0" anchor="t">
            <a:spAutoFit/>
          </a:bodyPr>
          <a:lstStyle/>
          <a:p>
            <a:pPr>
              <a:lnSpc>
                <a:spcPts val="8974"/>
              </a:lnSpc>
            </a:pPr>
            <a:r>
              <a:rPr lang="en-US" sz="7850">
                <a:solidFill>
                  <a:srgbClr val="303870"/>
                </a:solidFill>
                <a:latin typeface="Times New Roman Bold"/>
                <a:ea typeface="+mn-lt"/>
                <a:cs typeface="Times New Roman Bold"/>
                <a:sym typeface="Agrandir Wide Bold"/>
              </a:rPr>
              <a:t>Project Walkthrough</a:t>
            </a:r>
            <a:endParaRPr lang="en-US">
              <a:latin typeface="Times New Roman Bold"/>
              <a:cs typeface="Times New Roman Bold"/>
            </a:endParaRPr>
          </a:p>
        </p:txBody>
      </p:sp>
      <p:grpSp>
        <p:nvGrpSpPr>
          <p:cNvPr id="6" name="Group 6"/>
          <p:cNvGrpSpPr/>
          <p:nvPr/>
        </p:nvGrpSpPr>
        <p:grpSpPr>
          <a:xfrm>
            <a:off x="1028700" y="3217151"/>
            <a:ext cx="4400544" cy="712964"/>
            <a:chOff x="0" y="0"/>
            <a:chExt cx="1362493" cy="220747"/>
          </a:xfrm>
        </p:grpSpPr>
        <p:sp>
          <p:nvSpPr>
            <p:cNvPr id="7" name="Freeform 7"/>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8" name="TextBox 8"/>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9" name="Group 9"/>
          <p:cNvGrpSpPr/>
          <p:nvPr/>
        </p:nvGrpSpPr>
        <p:grpSpPr>
          <a:xfrm>
            <a:off x="5941595" y="3167353"/>
            <a:ext cx="4400544" cy="712964"/>
            <a:chOff x="0" y="0"/>
            <a:chExt cx="1362493" cy="220747"/>
          </a:xfrm>
        </p:grpSpPr>
        <p:sp>
          <p:nvSpPr>
            <p:cNvPr id="10" name="Freeform 10"/>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11" name="TextBox 11"/>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12" name="Group 12"/>
          <p:cNvGrpSpPr/>
          <p:nvPr/>
        </p:nvGrpSpPr>
        <p:grpSpPr>
          <a:xfrm>
            <a:off x="1149016" y="5114578"/>
            <a:ext cx="4400544" cy="712964"/>
            <a:chOff x="0" y="0"/>
            <a:chExt cx="1362493" cy="220747"/>
          </a:xfrm>
        </p:grpSpPr>
        <p:sp>
          <p:nvSpPr>
            <p:cNvPr id="13" name="Freeform 13"/>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14" name="TextBox 14"/>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15" name="Group 15"/>
          <p:cNvGrpSpPr/>
          <p:nvPr/>
        </p:nvGrpSpPr>
        <p:grpSpPr>
          <a:xfrm>
            <a:off x="5969376" y="4159625"/>
            <a:ext cx="4400544" cy="712964"/>
            <a:chOff x="0" y="0"/>
            <a:chExt cx="1362493" cy="220747"/>
          </a:xfrm>
        </p:grpSpPr>
        <p:sp>
          <p:nvSpPr>
            <p:cNvPr id="16" name="Freeform 16"/>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17" name="TextBox 17"/>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18" name="Group 18"/>
          <p:cNvGrpSpPr/>
          <p:nvPr/>
        </p:nvGrpSpPr>
        <p:grpSpPr>
          <a:xfrm>
            <a:off x="1088858" y="6050967"/>
            <a:ext cx="4400544" cy="712964"/>
            <a:chOff x="0" y="0"/>
            <a:chExt cx="1362493" cy="220747"/>
          </a:xfrm>
        </p:grpSpPr>
        <p:sp>
          <p:nvSpPr>
            <p:cNvPr id="19" name="Freeform 19"/>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0" name="TextBox 20"/>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21" name="Group 21"/>
          <p:cNvGrpSpPr/>
          <p:nvPr/>
        </p:nvGrpSpPr>
        <p:grpSpPr>
          <a:xfrm>
            <a:off x="5969376" y="5156172"/>
            <a:ext cx="4400544" cy="712964"/>
            <a:chOff x="0" y="0"/>
            <a:chExt cx="1362493" cy="220747"/>
          </a:xfrm>
        </p:grpSpPr>
        <p:sp>
          <p:nvSpPr>
            <p:cNvPr id="22" name="Freeform 22"/>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3" name="TextBox 23"/>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24" name="Group 24"/>
          <p:cNvGrpSpPr/>
          <p:nvPr/>
        </p:nvGrpSpPr>
        <p:grpSpPr>
          <a:xfrm>
            <a:off x="1088858" y="7047514"/>
            <a:ext cx="4400544" cy="712964"/>
            <a:chOff x="0" y="0"/>
            <a:chExt cx="1362493" cy="220747"/>
          </a:xfrm>
        </p:grpSpPr>
        <p:sp>
          <p:nvSpPr>
            <p:cNvPr id="25" name="Freeform 25"/>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6" name="TextBox 26"/>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27" name="Group 27"/>
          <p:cNvGrpSpPr/>
          <p:nvPr/>
        </p:nvGrpSpPr>
        <p:grpSpPr>
          <a:xfrm>
            <a:off x="5969376" y="6152718"/>
            <a:ext cx="4400544" cy="712964"/>
            <a:chOff x="0" y="0"/>
            <a:chExt cx="1362493" cy="220747"/>
          </a:xfrm>
        </p:grpSpPr>
        <p:sp>
          <p:nvSpPr>
            <p:cNvPr id="28" name="Freeform 28"/>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29" name="TextBox 29"/>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30" name="Group 30"/>
          <p:cNvGrpSpPr/>
          <p:nvPr/>
        </p:nvGrpSpPr>
        <p:grpSpPr>
          <a:xfrm>
            <a:off x="1088858" y="8044060"/>
            <a:ext cx="4400544" cy="712964"/>
            <a:chOff x="0" y="0"/>
            <a:chExt cx="1362493" cy="220747"/>
          </a:xfrm>
        </p:grpSpPr>
        <p:sp>
          <p:nvSpPr>
            <p:cNvPr id="31" name="Freeform 31"/>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32" name="TextBox 32"/>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33" name="Group 33"/>
          <p:cNvGrpSpPr/>
          <p:nvPr/>
        </p:nvGrpSpPr>
        <p:grpSpPr>
          <a:xfrm>
            <a:off x="5969376" y="7149265"/>
            <a:ext cx="4400544" cy="712964"/>
            <a:chOff x="0" y="0"/>
            <a:chExt cx="1362493" cy="220747"/>
          </a:xfrm>
        </p:grpSpPr>
        <p:sp>
          <p:nvSpPr>
            <p:cNvPr id="34" name="Freeform 34"/>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35" name="TextBox 35"/>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sp>
        <p:nvSpPr>
          <p:cNvPr id="36" name="TextBox 36"/>
          <p:cNvSpPr txBox="1"/>
          <p:nvPr/>
        </p:nvSpPr>
        <p:spPr>
          <a:xfrm>
            <a:off x="1231782" y="3307602"/>
            <a:ext cx="3994381" cy="473488"/>
          </a:xfrm>
          <a:prstGeom prst="rect">
            <a:avLst/>
          </a:prstGeom>
        </p:spPr>
        <p:txBody>
          <a:bodyPr lIns="0" tIns="0" rIns="0" bIns="0" rtlCol="0" anchor="t">
            <a:spAutoFit/>
          </a:bodyPr>
          <a:lstStyle/>
          <a:p>
            <a:pPr>
              <a:lnSpc>
                <a:spcPts val="3847"/>
              </a:lnSpc>
            </a:pPr>
            <a:r>
              <a:rPr lang="en-US" sz="2700">
                <a:solidFill>
                  <a:srgbClr val="303870"/>
                </a:solidFill>
                <a:latin typeface="Nunito"/>
                <a:ea typeface="Nunito"/>
                <a:cs typeface="Nunito"/>
                <a:sym typeface="Nunito"/>
              </a:rPr>
              <a:t>01. Project Scope</a:t>
            </a:r>
            <a:endParaRPr lang="en-US" sz="2748">
              <a:solidFill>
                <a:srgbClr val="303870"/>
              </a:solidFill>
              <a:latin typeface="Nunito"/>
              <a:ea typeface="Nunito"/>
              <a:cs typeface="Nunito"/>
              <a:sym typeface="Nunito"/>
            </a:endParaRPr>
          </a:p>
        </p:txBody>
      </p:sp>
      <p:sp>
        <p:nvSpPr>
          <p:cNvPr id="37" name="TextBox 37"/>
          <p:cNvSpPr txBox="1"/>
          <p:nvPr/>
        </p:nvSpPr>
        <p:spPr>
          <a:xfrm>
            <a:off x="6144677" y="3257803"/>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07. Data Cleaning</a:t>
            </a:r>
          </a:p>
        </p:txBody>
      </p:sp>
      <p:sp>
        <p:nvSpPr>
          <p:cNvPr id="38" name="TextBox 38"/>
          <p:cNvSpPr txBox="1"/>
          <p:nvPr/>
        </p:nvSpPr>
        <p:spPr>
          <a:xfrm>
            <a:off x="1352098" y="5205028"/>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03. Objectives</a:t>
            </a:r>
          </a:p>
        </p:txBody>
      </p:sp>
      <p:sp>
        <p:nvSpPr>
          <p:cNvPr id="39" name="TextBox 39"/>
          <p:cNvSpPr txBox="1"/>
          <p:nvPr/>
        </p:nvSpPr>
        <p:spPr>
          <a:xfrm>
            <a:off x="6172457" y="4250076"/>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08. Outlier Handling</a:t>
            </a:r>
          </a:p>
        </p:txBody>
      </p:sp>
      <p:sp>
        <p:nvSpPr>
          <p:cNvPr id="40" name="TextBox 40"/>
          <p:cNvSpPr txBox="1"/>
          <p:nvPr/>
        </p:nvSpPr>
        <p:spPr>
          <a:xfrm>
            <a:off x="1291940" y="6141418"/>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04. Project Workflow</a:t>
            </a:r>
          </a:p>
        </p:txBody>
      </p:sp>
      <p:sp>
        <p:nvSpPr>
          <p:cNvPr id="41" name="TextBox 41"/>
          <p:cNvSpPr txBox="1"/>
          <p:nvPr/>
        </p:nvSpPr>
        <p:spPr>
          <a:xfrm>
            <a:off x="6172457" y="5246622"/>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09. EDA</a:t>
            </a:r>
          </a:p>
        </p:txBody>
      </p:sp>
      <p:sp>
        <p:nvSpPr>
          <p:cNvPr id="42" name="TextBox 42"/>
          <p:cNvSpPr txBox="1"/>
          <p:nvPr/>
        </p:nvSpPr>
        <p:spPr>
          <a:xfrm>
            <a:off x="1291940" y="7137964"/>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05. Dataset Overview</a:t>
            </a:r>
          </a:p>
        </p:txBody>
      </p:sp>
      <p:sp>
        <p:nvSpPr>
          <p:cNvPr id="43" name="TextBox 43"/>
          <p:cNvSpPr txBox="1"/>
          <p:nvPr/>
        </p:nvSpPr>
        <p:spPr>
          <a:xfrm>
            <a:off x="6172457" y="6243169"/>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10. Correlation Analysis</a:t>
            </a:r>
          </a:p>
        </p:txBody>
      </p:sp>
      <p:sp>
        <p:nvSpPr>
          <p:cNvPr id="44" name="TextBox 44"/>
          <p:cNvSpPr txBox="1"/>
          <p:nvPr/>
        </p:nvSpPr>
        <p:spPr>
          <a:xfrm>
            <a:off x="1291940" y="8134511"/>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06. Target Variable </a:t>
            </a:r>
          </a:p>
        </p:txBody>
      </p:sp>
      <p:sp>
        <p:nvSpPr>
          <p:cNvPr id="45" name="TextBox 45"/>
          <p:cNvSpPr txBox="1"/>
          <p:nvPr/>
        </p:nvSpPr>
        <p:spPr>
          <a:xfrm>
            <a:off x="6172457" y="7239716"/>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11. Feature Engineering</a:t>
            </a:r>
          </a:p>
        </p:txBody>
      </p:sp>
      <p:grpSp>
        <p:nvGrpSpPr>
          <p:cNvPr id="46" name="Group 46"/>
          <p:cNvGrpSpPr/>
          <p:nvPr/>
        </p:nvGrpSpPr>
        <p:grpSpPr>
          <a:xfrm>
            <a:off x="6069639" y="8196824"/>
            <a:ext cx="4400544" cy="712964"/>
            <a:chOff x="0" y="0"/>
            <a:chExt cx="1362493" cy="220747"/>
          </a:xfrm>
        </p:grpSpPr>
        <p:sp>
          <p:nvSpPr>
            <p:cNvPr id="47" name="Freeform 47"/>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48" name="TextBox 48"/>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49" name="Group 49"/>
          <p:cNvGrpSpPr/>
          <p:nvPr/>
        </p:nvGrpSpPr>
        <p:grpSpPr>
          <a:xfrm>
            <a:off x="10761955" y="3159697"/>
            <a:ext cx="4400544" cy="712964"/>
            <a:chOff x="0" y="0"/>
            <a:chExt cx="1362493" cy="220747"/>
          </a:xfrm>
        </p:grpSpPr>
        <p:sp>
          <p:nvSpPr>
            <p:cNvPr id="50" name="Freeform 50"/>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51" name="TextBox 51"/>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52" name="Group 52"/>
          <p:cNvGrpSpPr/>
          <p:nvPr/>
        </p:nvGrpSpPr>
        <p:grpSpPr>
          <a:xfrm>
            <a:off x="10786011" y="4137371"/>
            <a:ext cx="4400544" cy="712964"/>
            <a:chOff x="0" y="0"/>
            <a:chExt cx="1362493" cy="220747"/>
          </a:xfrm>
        </p:grpSpPr>
        <p:sp>
          <p:nvSpPr>
            <p:cNvPr id="53" name="Freeform 53"/>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54" name="TextBox 54"/>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55" name="Group 55"/>
          <p:cNvGrpSpPr/>
          <p:nvPr/>
        </p:nvGrpSpPr>
        <p:grpSpPr>
          <a:xfrm>
            <a:off x="10786011" y="5133918"/>
            <a:ext cx="4400544" cy="712964"/>
            <a:chOff x="0" y="0"/>
            <a:chExt cx="1362493" cy="220747"/>
          </a:xfrm>
        </p:grpSpPr>
        <p:sp>
          <p:nvSpPr>
            <p:cNvPr id="56" name="Freeform 56"/>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57" name="TextBox 57"/>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grpSp>
        <p:nvGrpSpPr>
          <p:cNvPr id="58" name="Group 58"/>
          <p:cNvGrpSpPr/>
          <p:nvPr/>
        </p:nvGrpSpPr>
        <p:grpSpPr>
          <a:xfrm>
            <a:off x="1060484" y="4205411"/>
            <a:ext cx="4400544" cy="712964"/>
            <a:chOff x="0" y="0"/>
            <a:chExt cx="1362493" cy="220747"/>
          </a:xfrm>
        </p:grpSpPr>
        <p:sp>
          <p:nvSpPr>
            <p:cNvPr id="59" name="Freeform 59"/>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60" name="TextBox 60"/>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sp>
        <p:nvSpPr>
          <p:cNvPr id="61" name="TextBox 61"/>
          <p:cNvSpPr txBox="1"/>
          <p:nvPr/>
        </p:nvSpPr>
        <p:spPr>
          <a:xfrm>
            <a:off x="6272720" y="8287275"/>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12. PCA</a:t>
            </a:r>
          </a:p>
        </p:txBody>
      </p:sp>
      <p:sp>
        <p:nvSpPr>
          <p:cNvPr id="62" name="TextBox 62"/>
          <p:cNvSpPr txBox="1"/>
          <p:nvPr/>
        </p:nvSpPr>
        <p:spPr>
          <a:xfrm>
            <a:off x="10965036" y="3250147"/>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13.Key Insights /Results</a:t>
            </a:r>
          </a:p>
        </p:txBody>
      </p:sp>
      <p:sp>
        <p:nvSpPr>
          <p:cNvPr id="63" name="TextBox 63"/>
          <p:cNvSpPr txBox="1"/>
          <p:nvPr/>
        </p:nvSpPr>
        <p:spPr>
          <a:xfrm>
            <a:off x="10989093" y="4227822"/>
            <a:ext cx="3994381" cy="473488"/>
          </a:xfrm>
          <a:prstGeom prst="rect">
            <a:avLst/>
          </a:prstGeom>
        </p:spPr>
        <p:txBody>
          <a:bodyPr lIns="0" tIns="0" rIns="0" bIns="0" rtlCol="0" anchor="t">
            <a:spAutoFit/>
          </a:bodyPr>
          <a:lstStyle/>
          <a:p>
            <a:pPr algn="l">
              <a:lnSpc>
                <a:spcPts val="3847"/>
              </a:lnSpc>
            </a:pPr>
            <a:r>
              <a:rPr lang="en-US" sz="2700">
                <a:solidFill>
                  <a:srgbClr val="303870"/>
                </a:solidFill>
                <a:latin typeface="Nunito"/>
                <a:ea typeface="Nunito"/>
                <a:cs typeface="Nunito"/>
                <a:sym typeface="Nunito"/>
              </a:rPr>
              <a:t>14.Dashboard</a:t>
            </a:r>
          </a:p>
        </p:txBody>
      </p:sp>
      <p:sp>
        <p:nvSpPr>
          <p:cNvPr id="64" name="TextBox 64"/>
          <p:cNvSpPr txBox="1"/>
          <p:nvPr/>
        </p:nvSpPr>
        <p:spPr>
          <a:xfrm>
            <a:off x="10989093" y="5224368"/>
            <a:ext cx="3994381" cy="473488"/>
          </a:xfrm>
          <a:prstGeom prst="rect">
            <a:avLst/>
          </a:prstGeom>
        </p:spPr>
        <p:txBody>
          <a:bodyPr lIns="0" tIns="0" rIns="0" bIns="0" rtlCol="0" anchor="t">
            <a:spAutoFit/>
          </a:bodyPr>
          <a:lstStyle/>
          <a:p>
            <a:pPr marL="296545" lvl="1" algn="l">
              <a:lnSpc>
                <a:spcPts val="3847"/>
              </a:lnSpc>
            </a:pPr>
            <a:r>
              <a:rPr lang="en-US" sz="2700">
                <a:solidFill>
                  <a:srgbClr val="303870"/>
                </a:solidFill>
                <a:latin typeface="Nunito"/>
                <a:ea typeface="Nunito"/>
                <a:cs typeface="Nunito"/>
                <a:sym typeface="Nunito"/>
              </a:rPr>
              <a:t>15.Demo  Video</a:t>
            </a:r>
            <a:endParaRPr lang="en-US" sz="2700">
              <a:ea typeface="Calibri"/>
              <a:cs typeface="Calibri"/>
            </a:endParaRPr>
          </a:p>
        </p:txBody>
      </p:sp>
      <p:sp>
        <p:nvSpPr>
          <p:cNvPr id="65" name="TextBox 65"/>
          <p:cNvSpPr txBox="1"/>
          <p:nvPr/>
        </p:nvSpPr>
        <p:spPr>
          <a:xfrm>
            <a:off x="1263566" y="4295862"/>
            <a:ext cx="3994381" cy="473488"/>
          </a:xfrm>
          <a:prstGeom prst="rect">
            <a:avLst/>
          </a:prstGeom>
        </p:spPr>
        <p:txBody>
          <a:bodyPr lIns="0" tIns="0" rIns="0" bIns="0" rtlCol="0" anchor="t">
            <a:spAutoFit/>
          </a:bodyPr>
          <a:lstStyle/>
          <a:p>
            <a:pPr>
              <a:lnSpc>
                <a:spcPts val="3847"/>
              </a:lnSpc>
            </a:pPr>
            <a:r>
              <a:rPr lang="en-US" sz="2700">
                <a:solidFill>
                  <a:srgbClr val="303870"/>
                </a:solidFill>
                <a:latin typeface="Nunito"/>
                <a:ea typeface="Nunito"/>
                <a:cs typeface="Nunito"/>
                <a:sym typeface="Nunito"/>
              </a:rPr>
              <a:t>02.Problem Statement</a:t>
            </a:r>
            <a:endParaRPr lang="en-US" sz="2748">
              <a:solidFill>
                <a:srgbClr val="303870"/>
              </a:solidFill>
              <a:latin typeface="Nunito"/>
              <a:ea typeface="Nunito"/>
              <a:cs typeface="Nunito"/>
              <a:sym typeface="Nunito"/>
            </a:endParaRPr>
          </a:p>
        </p:txBody>
      </p:sp>
      <p:grpSp>
        <p:nvGrpSpPr>
          <p:cNvPr id="66" name="Group 66"/>
          <p:cNvGrpSpPr/>
          <p:nvPr/>
        </p:nvGrpSpPr>
        <p:grpSpPr>
          <a:xfrm>
            <a:off x="10786011" y="6204590"/>
            <a:ext cx="4400544" cy="712964"/>
            <a:chOff x="0" y="0"/>
            <a:chExt cx="1362493" cy="220747"/>
          </a:xfrm>
        </p:grpSpPr>
        <p:sp>
          <p:nvSpPr>
            <p:cNvPr id="67" name="Freeform 67"/>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68" name="TextBox 68"/>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sp>
        <p:nvSpPr>
          <p:cNvPr id="69" name="TextBox 69"/>
          <p:cNvSpPr txBox="1"/>
          <p:nvPr/>
        </p:nvSpPr>
        <p:spPr>
          <a:xfrm>
            <a:off x="10989093" y="6295040"/>
            <a:ext cx="3994381" cy="473488"/>
          </a:xfrm>
          <a:prstGeom prst="rect">
            <a:avLst/>
          </a:prstGeom>
        </p:spPr>
        <p:txBody>
          <a:bodyPr lIns="0" tIns="0" rIns="0" bIns="0" rtlCol="0" anchor="t">
            <a:spAutoFit/>
          </a:bodyPr>
          <a:lstStyle/>
          <a:p>
            <a:pPr algn="l">
              <a:lnSpc>
                <a:spcPts val="3847"/>
              </a:lnSpc>
            </a:pPr>
            <a:r>
              <a:rPr lang="en-US" sz="2748">
                <a:solidFill>
                  <a:srgbClr val="303870"/>
                </a:solidFill>
                <a:latin typeface="Nunito"/>
                <a:ea typeface="Nunito"/>
                <a:cs typeface="Nunito"/>
                <a:sym typeface="Nunito"/>
              </a:rPr>
              <a:t>16.Future Enhancements</a:t>
            </a:r>
          </a:p>
        </p:txBody>
      </p:sp>
      <p:grpSp>
        <p:nvGrpSpPr>
          <p:cNvPr id="70" name="Group 70"/>
          <p:cNvGrpSpPr/>
          <p:nvPr/>
        </p:nvGrpSpPr>
        <p:grpSpPr>
          <a:xfrm>
            <a:off x="10786011" y="7201136"/>
            <a:ext cx="4400544" cy="712964"/>
            <a:chOff x="0" y="0"/>
            <a:chExt cx="1362493" cy="220747"/>
          </a:xfrm>
        </p:grpSpPr>
        <p:sp>
          <p:nvSpPr>
            <p:cNvPr id="71" name="Freeform 71"/>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72" name="TextBox 72"/>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sp>
        <p:nvSpPr>
          <p:cNvPr id="73" name="TextBox 73"/>
          <p:cNvSpPr txBox="1"/>
          <p:nvPr/>
        </p:nvSpPr>
        <p:spPr>
          <a:xfrm>
            <a:off x="10989093" y="7291587"/>
            <a:ext cx="3994381" cy="473488"/>
          </a:xfrm>
          <a:prstGeom prst="rect">
            <a:avLst/>
          </a:prstGeom>
        </p:spPr>
        <p:txBody>
          <a:bodyPr lIns="0" tIns="0" rIns="0" bIns="0" rtlCol="0" anchor="t">
            <a:spAutoFit/>
          </a:bodyPr>
          <a:lstStyle/>
          <a:p>
            <a:pPr algn="l">
              <a:lnSpc>
                <a:spcPts val="3847"/>
              </a:lnSpc>
            </a:pPr>
            <a:r>
              <a:rPr lang="en-US" sz="2748">
                <a:solidFill>
                  <a:srgbClr val="303870"/>
                </a:solidFill>
                <a:latin typeface="Nunito"/>
                <a:ea typeface="Nunito"/>
                <a:cs typeface="Nunito"/>
                <a:sym typeface="Nunito"/>
              </a:rPr>
              <a:t>17.Team Contribution</a:t>
            </a:r>
          </a:p>
        </p:txBody>
      </p:sp>
      <p:grpSp>
        <p:nvGrpSpPr>
          <p:cNvPr id="74" name="Group 74"/>
          <p:cNvGrpSpPr/>
          <p:nvPr/>
        </p:nvGrpSpPr>
        <p:grpSpPr>
          <a:xfrm>
            <a:off x="10786011" y="8197683"/>
            <a:ext cx="4400544" cy="712964"/>
            <a:chOff x="0" y="0"/>
            <a:chExt cx="1362493" cy="220747"/>
          </a:xfrm>
        </p:grpSpPr>
        <p:sp>
          <p:nvSpPr>
            <p:cNvPr id="75" name="Freeform 75"/>
            <p:cNvSpPr/>
            <p:nvPr/>
          </p:nvSpPr>
          <p:spPr>
            <a:xfrm>
              <a:off x="0" y="0"/>
              <a:ext cx="1362493" cy="220747"/>
            </a:xfrm>
            <a:custGeom>
              <a:avLst/>
              <a:gdLst/>
              <a:ahLst/>
              <a:cxnLst/>
              <a:rect l="l" t="t" r="r" b="b"/>
              <a:pathLst>
                <a:path w="1362493" h="220747">
                  <a:moveTo>
                    <a:pt x="110374" y="0"/>
                  </a:moveTo>
                  <a:lnTo>
                    <a:pt x="1252119" y="0"/>
                  </a:lnTo>
                  <a:cubicBezTo>
                    <a:pt x="1281392" y="0"/>
                    <a:pt x="1309466" y="11629"/>
                    <a:pt x="1330165" y="32328"/>
                  </a:cubicBezTo>
                  <a:cubicBezTo>
                    <a:pt x="1350864" y="53027"/>
                    <a:pt x="1362493" y="81101"/>
                    <a:pt x="1362493" y="110374"/>
                  </a:cubicBezTo>
                  <a:lnTo>
                    <a:pt x="1362493" y="110374"/>
                  </a:lnTo>
                  <a:cubicBezTo>
                    <a:pt x="1362493" y="139647"/>
                    <a:pt x="1350864" y="167721"/>
                    <a:pt x="1330165" y="188420"/>
                  </a:cubicBezTo>
                  <a:cubicBezTo>
                    <a:pt x="1309466" y="209119"/>
                    <a:pt x="1281392" y="220747"/>
                    <a:pt x="1252119"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txBody>
            <a:bodyPr/>
            <a:lstStyle/>
            <a:p>
              <a:endParaRPr lang="en-IN"/>
            </a:p>
          </p:txBody>
        </p:sp>
        <p:sp>
          <p:nvSpPr>
            <p:cNvPr id="76" name="TextBox 76"/>
            <p:cNvSpPr txBox="1"/>
            <p:nvPr/>
          </p:nvSpPr>
          <p:spPr>
            <a:xfrm>
              <a:off x="0" y="-95250"/>
              <a:ext cx="1362493" cy="315997"/>
            </a:xfrm>
            <a:prstGeom prst="rect">
              <a:avLst/>
            </a:prstGeom>
          </p:spPr>
          <p:txBody>
            <a:bodyPr lIns="50800" tIns="50800" rIns="50800" bIns="50800" rtlCol="0" anchor="ctr"/>
            <a:lstStyle/>
            <a:p>
              <a:pPr algn="ctr">
                <a:lnSpc>
                  <a:spcPts val="3287"/>
                </a:lnSpc>
              </a:pPr>
              <a:endParaRPr/>
            </a:p>
          </p:txBody>
        </p:sp>
      </p:grpSp>
      <p:sp>
        <p:nvSpPr>
          <p:cNvPr id="77" name="TextBox 77"/>
          <p:cNvSpPr txBox="1"/>
          <p:nvPr/>
        </p:nvSpPr>
        <p:spPr>
          <a:xfrm>
            <a:off x="10989093" y="8288133"/>
            <a:ext cx="3994381" cy="473488"/>
          </a:xfrm>
          <a:prstGeom prst="rect">
            <a:avLst/>
          </a:prstGeom>
        </p:spPr>
        <p:txBody>
          <a:bodyPr lIns="0" tIns="0" rIns="0" bIns="0" rtlCol="0" anchor="t">
            <a:spAutoFit/>
          </a:bodyPr>
          <a:lstStyle/>
          <a:p>
            <a:pPr algn="l">
              <a:lnSpc>
                <a:spcPts val="3847"/>
              </a:lnSpc>
            </a:pPr>
            <a:r>
              <a:rPr lang="en-US" sz="2748">
                <a:solidFill>
                  <a:srgbClr val="303870"/>
                </a:solidFill>
                <a:latin typeface="Nunito"/>
                <a:ea typeface="Nunito"/>
                <a:cs typeface="Nunito"/>
                <a:sym typeface="Nunito"/>
              </a:rPr>
              <a:t>18.Conclusion/Reference</a:t>
            </a:r>
          </a:p>
        </p:txBody>
      </p:sp>
      <p:sp>
        <p:nvSpPr>
          <p:cNvPr id="78" name="Rectangle 77">
            <a:extLst>
              <a:ext uri="{FF2B5EF4-FFF2-40B4-BE49-F238E27FC236}">
                <a16:creationId xmlns:a16="http://schemas.microsoft.com/office/drawing/2014/main" id="{63799C45-6726-08CC-FC7E-40C2791BEB48}"/>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594655" y="423159"/>
            <a:ext cx="12569145" cy="961802"/>
          </a:xfrm>
          <a:prstGeom prst="rect">
            <a:avLst/>
          </a:prstGeom>
        </p:spPr>
        <p:txBody>
          <a:bodyPr wrap="square"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Project Scope</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08309ED2-C1B6-97C2-3F1D-7D3BA09BE70D}"/>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Content Placeholder 8">
            <a:extLst>
              <a:ext uri="{FF2B5EF4-FFF2-40B4-BE49-F238E27FC236}">
                <a16:creationId xmlns:a16="http://schemas.microsoft.com/office/drawing/2014/main" id="{36286253-6A23-9F9E-7801-E133A18ADA0C}"/>
              </a:ext>
            </a:extLst>
          </p:cNvPr>
          <p:cNvSpPr>
            <a:spLocks noGrp="1"/>
          </p:cNvSpPr>
          <p:nvPr>
            <p:ph idx="1"/>
          </p:nvPr>
        </p:nvSpPr>
        <p:spPr>
          <a:xfrm>
            <a:off x="1447800" y="2400299"/>
            <a:ext cx="15011400" cy="5943601"/>
          </a:xfrm>
        </p:spPr>
        <p:txBody>
          <a:bodyPr/>
          <a:lstStyle/>
          <a:p>
            <a:pPr marL="0" lvl="0" indent="0">
              <a:buNone/>
            </a:pPr>
            <a:endParaRPr lang="en-US"/>
          </a:p>
          <a:p>
            <a:pPr lvl="0"/>
            <a:r>
              <a:rPr lang="en-US"/>
              <a:t>Suggest Music directors on how people 's preferences over music change</a:t>
            </a:r>
            <a:endParaRPr lang="en-IN" b="1"/>
          </a:p>
          <a:p>
            <a:pPr lvl="0"/>
            <a:r>
              <a:rPr lang="en-US"/>
              <a:t>Focuses on analyzing Spotify music trends dataset over recent years</a:t>
            </a:r>
            <a:endParaRPr lang="en-IN" b="1"/>
          </a:p>
          <a:p>
            <a:pPr lvl="0"/>
            <a:r>
              <a:rPr lang="en-US"/>
              <a:t>Covers data cleaning, preprocessing, and exploratory data analysis (EDA)</a:t>
            </a:r>
            <a:endParaRPr lang="en-IN" b="1"/>
          </a:p>
          <a:p>
            <a:pPr lvl="0"/>
            <a:r>
              <a:rPr lang="en-US"/>
              <a:t>Studies relationships between audio features, genre, and popularity</a:t>
            </a:r>
            <a:endParaRPr lang="en-IN" b="1"/>
          </a:p>
          <a:p>
            <a:pPr lvl="0"/>
            <a:r>
              <a:rPr lang="en-US"/>
              <a:t>Identifies patterns and changes in listener preferences over time</a:t>
            </a:r>
            <a:endParaRPr lang="en-IN" b="1"/>
          </a:p>
          <a:p>
            <a:pPr lvl="0"/>
            <a:r>
              <a:rPr lang="en-US"/>
              <a:t>Applies feature engineering techniques to improve data quality</a:t>
            </a:r>
            <a:endParaRPr lang="en-IN" b="1"/>
          </a:p>
          <a:p>
            <a:pPr lvl="0"/>
            <a:r>
              <a:rPr lang="en-US"/>
              <a:t>Can be extended for machine learning models and recommendation systems in future</a:t>
            </a:r>
            <a:endParaRPr lang="en-IN" b="1"/>
          </a:p>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Freeform 5"/>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6" name="Freeform 6"/>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7" name="TextBox 7"/>
          <p:cNvSpPr txBox="1"/>
          <p:nvPr/>
        </p:nvSpPr>
        <p:spPr>
          <a:xfrm>
            <a:off x="3235590" y="429634"/>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Problem Statement</a:t>
            </a:r>
          </a:p>
        </p:txBody>
      </p:sp>
      <p:sp>
        <p:nvSpPr>
          <p:cNvPr id="8" name="Rectangle 7">
            <a:extLst>
              <a:ext uri="{FF2B5EF4-FFF2-40B4-BE49-F238E27FC236}">
                <a16:creationId xmlns:a16="http://schemas.microsoft.com/office/drawing/2014/main" id="{0546FEF3-6C82-CC78-29D6-441D51629D3C}"/>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07226EA7-121D-ED4C-8282-9FAB2227106D}"/>
              </a:ext>
            </a:extLst>
          </p:cNvPr>
          <p:cNvSpPr>
            <a:spLocks noGrp="1"/>
          </p:cNvSpPr>
          <p:nvPr>
            <p:ph idx="1"/>
          </p:nvPr>
        </p:nvSpPr>
        <p:spPr>
          <a:xfrm>
            <a:off x="1905000" y="2324100"/>
            <a:ext cx="14401800" cy="6248400"/>
          </a:xfrm>
        </p:spPr>
        <p:txBody>
          <a:bodyPr/>
          <a:lstStyle/>
          <a:p>
            <a:pPr marL="0" indent="0">
              <a:buNone/>
            </a:pPr>
            <a:r>
              <a:rPr lang="en-US"/>
              <a:t>                  </a:t>
            </a:r>
          </a:p>
          <a:p>
            <a:pPr marL="0" indent="0">
              <a:lnSpc>
                <a:spcPct val="150000"/>
              </a:lnSpc>
              <a:buNone/>
            </a:pPr>
            <a:r>
              <a:rPr lang="en-US"/>
              <a:t>               The rise of digital music platforms like Spotify has made music consumption more dynamic and data driven. With thousands of songs released regularly, understanding what makes a song popular has become challenging. Listener preferences keep changing over time, influenced by trends and audio features like energy, danceability, and tempo. This project focuses on </a:t>
            </a:r>
            <a:r>
              <a:rPr lang="en-US" b="1"/>
              <a:t>analyzing Spotify music trends </a:t>
            </a:r>
            <a:r>
              <a:rPr lang="en-US"/>
              <a:t>to understand how these factors affect popularity and </a:t>
            </a:r>
            <a:r>
              <a:rPr lang="en-US" b="1"/>
              <a:t>how music tastes have evolved over the years.</a:t>
            </a:r>
            <a:endParaRPr lang="en-IN" b="1"/>
          </a:p>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3235590" y="429634"/>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Objectives</a:t>
            </a:r>
          </a:p>
        </p:txBody>
      </p:sp>
      <p:sp>
        <p:nvSpPr>
          <p:cNvPr id="6" name="Freeform 6"/>
          <p:cNvSpPr/>
          <p:nvPr/>
        </p:nvSpPr>
        <p:spPr>
          <a:xfrm>
            <a:off x="522550"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9" name="Rectangle 8">
            <a:extLst>
              <a:ext uri="{FF2B5EF4-FFF2-40B4-BE49-F238E27FC236}">
                <a16:creationId xmlns:a16="http://schemas.microsoft.com/office/drawing/2014/main" id="{9D7F506C-3C73-59BC-FC79-4E61A28847A3}"/>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1934C000-B5FC-7516-42FA-3076B597D4BC}"/>
              </a:ext>
            </a:extLst>
          </p:cNvPr>
          <p:cNvSpPr>
            <a:spLocks noGrp="1"/>
          </p:cNvSpPr>
          <p:nvPr>
            <p:ph idx="1"/>
          </p:nvPr>
        </p:nvSpPr>
        <p:spPr>
          <a:xfrm>
            <a:off x="1600200" y="1903602"/>
            <a:ext cx="14097000" cy="6668898"/>
          </a:xfrm>
        </p:spPr>
        <p:txBody>
          <a:bodyPr>
            <a:normAutofit/>
          </a:bodyPr>
          <a:lstStyle/>
          <a:p>
            <a:pPr lvl="0">
              <a:lnSpc>
                <a:spcPct val="150000"/>
              </a:lnSpc>
            </a:pPr>
            <a:endParaRPr lang="en-US"/>
          </a:p>
          <a:p>
            <a:pPr lvl="0">
              <a:lnSpc>
                <a:spcPct val="150000"/>
              </a:lnSpc>
            </a:pPr>
            <a:r>
              <a:rPr lang="en-US"/>
              <a:t>To analyze Spotify music trends over the last decade</a:t>
            </a:r>
            <a:endParaRPr lang="en-IN" b="1"/>
          </a:p>
          <a:p>
            <a:pPr lvl="0">
              <a:lnSpc>
                <a:spcPct val="150000"/>
              </a:lnSpc>
            </a:pPr>
            <a:r>
              <a:rPr lang="en-US"/>
              <a:t>To understand how audio features (energy, danceability, tempo, etc.) affect popularity</a:t>
            </a:r>
            <a:endParaRPr lang="en-IN" b="1"/>
          </a:p>
          <a:p>
            <a:pPr lvl="0">
              <a:lnSpc>
                <a:spcPct val="150000"/>
              </a:lnSpc>
            </a:pPr>
            <a:r>
              <a:rPr lang="en-US"/>
              <a:t>To identify changes in listener preferences over time</a:t>
            </a:r>
            <a:endParaRPr lang="en-IN" b="1"/>
          </a:p>
          <a:p>
            <a:pPr lvl="0">
              <a:lnSpc>
                <a:spcPct val="150000"/>
              </a:lnSpc>
            </a:pPr>
            <a:r>
              <a:rPr lang="en-US"/>
              <a:t>To explore relationships between genre, features, and song success</a:t>
            </a:r>
            <a:endParaRPr lang="en-IN" b="1"/>
          </a:p>
          <a:p>
            <a:pPr lvl="0">
              <a:lnSpc>
                <a:spcPct val="150000"/>
              </a:lnSpc>
            </a:pPr>
            <a:r>
              <a:rPr lang="en-US"/>
              <a:t>To perform data cleaning, analysis, and visualization for meaningful insights</a:t>
            </a:r>
            <a:endParaRPr lang="en-IN" b="1"/>
          </a:p>
          <a:p>
            <a:pPr lvl="0">
              <a:lnSpc>
                <a:spcPct val="150000"/>
              </a:lnSpc>
            </a:pPr>
            <a:r>
              <a:rPr lang="en-US"/>
              <a:t>To prepare data for future machine learning and prediction tasks</a:t>
            </a:r>
            <a:endParaRPr lang="en-IN" b="1"/>
          </a:p>
          <a:p>
            <a:pPr>
              <a:lnSpc>
                <a:spcPct val="150000"/>
              </a:lnSpc>
            </a:pP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1800515" y="429634"/>
            <a:ext cx="12934249"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Project Workflow </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1A04FC07-0A47-4602-F80E-50AD351DF957}"/>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ECBDB6F5-8D3A-E00F-B6F0-896F460F1836}"/>
              </a:ext>
            </a:extLst>
          </p:cNvPr>
          <p:cNvSpPr/>
          <p:nvPr/>
        </p:nvSpPr>
        <p:spPr>
          <a:xfrm>
            <a:off x="840802" y="2373154"/>
            <a:ext cx="2733652"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Loaded Dataset(Spotify_data.csv)</a:t>
            </a:r>
          </a:p>
        </p:txBody>
      </p:sp>
      <p:sp>
        <p:nvSpPr>
          <p:cNvPr id="3" name="Rectangle 2">
            <a:extLst>
              <a:ext uri="{FF2B5EF4-FFF2-40B4-BE49-F238E27FC236}">
                <a16:creationId xmlns:a16="http://schemas.microsoft.com/office/drawing/2014/main" id="{AAB57E89-1312-3AC4-596D-9396D1035AB1}"/>
              </a:ext>
            </a:extLst>
          </p:cNvPr>
          <p:cNvSpPr/>
          <p:nvPr/>
        </p:nvSpPr>
        <p:spPr>
          <a:xfrm>
            <a:off x="8826143" y="2373153"/>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Separated numerical columns and filled missing values using </a:t>
            </a:r>
            <a:r>
              <a:rPr lang="en-US" b="1">
                <a:ea typeface="Calibri"/>
                <a:cs typeface="Calibri"/>
              </a:rPr>
              <a:t>mean imputation</a:t>
            </a:r>
            <a:endParaRPr lang="en-US" b="1"/>
          </a:p>
        </p:txBody>
      </p:sp>
      <p:sp>
        <p:nvSpPr>
          <p:cNvPr id="4" name="Rectangle 3">
            <a:extLst>
              <a:ext uri="{FF2B5EF4-FFF2-40B4-BE49-F238E27FC236}">
                <a16:creationId xmlns:a16="http://schemas.microsoft.com/office/drawing/2014/main" id="{C34DC78D-E98E-8BD2-8EA5-07D0D1A1119C}"/>
              </a:ext>
            </a:extLst>
          </p:cNvPr>
          <p:cNvSpPr/>
          <p:nvPr/>
        </p:nvSpPr>
        <p:spPr>
          <a:xfrm>
            <a:off x="4755185" y="2373152"/>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Used info(),describe() to know about the features like popularity ,danceability ,energy ,tempo etc..</a:t>
            </a:r>
            <a:endParaRPr lang="en-US"/>
          </a:p>
        </p:txBody>
      </p:sp>
      <p:sp>
        <p:nvSpPr>
          <p:cNvPr id="9" name="Rectangle 8">
            <a:extLst>
              <a:ext uri="{FF2B5EF4-FFF2-40B4-BE49-F238E27FC236}">
                <a16:creationId xmlns:a16="http://schemas.microsoft.com/office/drawing/2014/main" id="{C64B7E69-49EA-F13D-18BA-A0C74A9AB741}"/>
              </a:ext>
            </a:extLst>
          </p:cNvPr>
          <p:cNvSpPr/>
          <p:nvPr/>
        </p:nvSpPr>
        <p:spPr>
          <a:xfrm>
            <a:off x="13006704" y="2373152"/>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Detected outliers using Z-Score and used Box plot to visualize Outliers</a:t>
            </a:r>
            <a:endParaRPr lang="en-US" b="1"/>
          </a:p>
        </p:txBody>
      </p:sp>
      <p:sp>
        <p:nvSpPr>
          <p:cNvPr id="10" name="Rectangle 9">
            <a:extLst>
              <a:ext uri="{FF2B5EF4-FFF2-40B4-BE49-F238E27FC236}">
                <a16:creationId xmlns:a16="http://schemas.microsoft.com/office/drawing/2014/main" id="{41007642-21D6-ECE7-EDEB-22A7DEC7E8F4}"/>
              </a:ext>
            </a:extLst>
          </p:cNvPr>
          <p:cNvSpPr/>
          <p:nvPr/>
        </p:nvSpPr>
        <p:spPr>
          <a:xfrm>
            <a:off x="13013287" y="6968023"/>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Univariate analysis for popularity ,energy ,tempo ,loudness</a:t>
            </a:r>
          </a:p>
        </p:txBody>
      </p:sp>
      <p:sp>
        <p:nvSpPr>
          <p:cNvPr id="11" name="Rectangle 10">
            <a:extLst>
              <a:ext uri="{FF2B5EF4-FFF2-40B4-BE49-F238E27FC236}">
                <a16:creationId xmlns:a16="http://schemas.microsoft.com/office/drawing/2014/main" id="{CE89ABB0-C129-14EB-6FBC-919592E54B56}"/>
              </a:ext>
            </a:extLst>
          </p:cNvPr>
          <p:cNvSpPr/>
          <p:nvPr/>
        </p:nvSpPr>
        <p:spPr>
          <a:xfrm>
            <a:off x="13009909" y="4670469"/>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ea typeface="Calibri"/>
                <a:cs typeface="Calibri"/>
              </a:rPr>
              <a:t>Exploratory data Analysis</a:t>
            </a:r>
          </a:p>
        </p:txBody>
      </p:sp>
      <p:sp>
        <p:nvSpPr>
          <p:cNvPr id="12" name="Rectangle 11">
            <a:extLst>
              <a:ext uri="{FF2B5EF4-FFF2-40B4-BE49-F238E27FC236}">
                <a16:creationId xmlns:a16="http://schemas.microsoft.com/office/drawing/2014/main" id="{ECB13610-D274-8964-6311-170EA4C83A8A}"/>
              </a:ext>
            </a:extLst>
          </p:cNvPr>
          <p:cNvSpPr/>
          <p:nvPr/>
        </p:nvSpPr>
        <p:spPr>
          <a:xfrm>
            <a:off x="8826142" y="6972694"/>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Bivariate analysis for popularity/year ,popularity/genre ,Danceability vs Popularity/genre</a:t>
            </a:r>
          </a:p>
        </p:txBody>
      </p:sp>
      <p:sp>
        <p:nvSpPr>
          <p:cNvPr id="13" name="Rectangle 12">
            <a:extLst>
              <a:ext uri="{FF2B5EF4-FFF2-40B4-BE49-F238E27FC236}">
                <a16:creationId xmlns:a16="http://schemas.microsoft.com/office/drawing/2014/main" id="{8ECDFF6F-1B49-48E8-1101-795E7196B615}"/>
              </a:ext>
            </a:extLst>
          </p:cNvPr>
          <p:cNvSpPr/>
          <p:nvPr/>
        </p:nvSpPr>
        <p:spPr>
          <a:xfrm>
            <a:off x="4755184" y="6972693"/>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Standard scaling for normalizing values</a:t>
            </a:r>
          </a:p>
        </p:txBody>
      </p:sp>
      <p:sp>
        <p:nvSpPr>
          <p:cNvPr id="14" name="Rectangle 13">
            <a:extLst>
              <a:ext uri="{FF2B5EF4-FFF2-40B4-BE49-F238E27FC236}">
                <a16:creationId xmlns:a16="http://schemas.microsoft.com/office/drawing/2014/main" id="{866AD69C-4A87-3D3A-9F26-C63A65CEE0EE}"/>
              </a:ext>
            </a:extLst>
          </p:cNvPr>
          <p:cNvSpPr/>
          <p:nvPr/>
        </p:nvSpPr>
        <p:spPr>
          <a:xfrm>
            <a:off x="692714" y="6958922"/>
            <a:ext cx="2890227"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 label encoder and </a:t>
            </a:r>
            <a:r>
              <a:rPr lang="en-US" err="1">
                <a:ea typeface="Calibri"/>
                <a:cs typeface="Calibri"/>
              </a:rPr>
              <a:t>powertransformer</a:t>
            </a:r>
            <a:r>
              <a:rPr lang="en-US">
                <a:ea typeface="Calibri"/>
                <a:cs typeface="Calibri"/>
              </a:rPr>
              <a:t> for encoding categorical features </a:t>
            </a:r>
            <a:endParaRPr lang="en-US">
              <a:solidFill>
                <a:srgbClr val="000000"/>
              </a:solidFill>
              <a:ea typeface="Calibri"/>
              <a:cs typeface="Calibri"/>
            </a:endParaRPr>
          </a:p>
        </p:txBody>
      </p:sp>
      <p:sp>
        <p:nvSpPr>
          <p:cNvPr id="15" name="Rectangle 14">
            <a:extLst>
              <a:ext uri="{FF2B5EF4-FFF2-40B4-BE49-F238E27FC236}">
                <a16:creationId xmlns:a16="http://schemas.microsoft.com/office/drawing/2014/main" id="{445B3E15-8C05-D60B-D010-D8F0C0C28331}"/>
              </a:ext>
            </a:extLst>
          </p:cNvPr>
          <p:cNvSpPr/>
          <p:nvPr/>
        </p:nvSpPr>
        <p:spPr>
          <a:xfrm>
            <a:off x="840801" y="4672924"/>
            <a:ext cx="2733652"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Feature selection for PCA</a:t>
            </a:r>
            <a:br>
              <a:rPr lang="en-US">
                <a:ea typeface="Calibri"/>
                <a:cs typeface="Calibri"/>
              </a:rPr>
            </a:br>
            <a:r>
              <a:rPr lang="en-US">
                <a:ea typeface="Calibri"/>
                <a:cs typeface="Calibri"/>
              </a:rPr>
              <a:t>(</a:t>
            </a:r>
            <a:r>
              <a:rPr lang="en-US" err="1">
                <a:ea typeface="Calibri"/>
                <a:cs typeface="Calibri"/>
              </a:rPr>
              <a:t>Popularity,Energy,tloudness</a:t>
            </a:r>
            <a:r>
              <a:rPr lang="en-US">
                <a:ea typeface="Calibri"/>
                <a:cs typeface="Calibri"/>
              </a:rPr>
              <a:t>...)</a:t>
            </a:r>
          </a:p>
        </p:txBody>
      </p:sp>
      <p:sp>
        <p:nvSpPr>
          <p:cNvPr id="16" name="Rectangle 15">
            <a:extLst>
              <a:ext uri="{FF2B5EF4-FFF2-40B4-BE49-F238E27FC236}">
                <a16:creationId xmlns:a16="http://schemas.microsoft.com/office/drawing/2014/main" id="{55B03378-5417-E0C8-35FB-94DD299E2120}"/>
              </a:ext>
            </a:extLst>
          </p:cNvPr>
          <p:cNvSpPr/>
          <p:nvPr/>
        </p:nvSpPr>
        <p:spPr>
          <a:xfrm>
            <a:off x="8828029" y="4645381"/>
            <a:ext cx="2885133"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ea typeface="Calibri"/>
                <a:cs typeface="Calibri"/>
              </a:rPr>
              <a:t>Interactive Power BI Dashboard</a:t>
            </a:r>
          </a:p>
        </p:txBody>
      </p:sp>
      <p:sp>
        <p:nvSpPr>
          <p:cNvPr id="17" name="Rectangle 16">
            <a:extLst>
              <a:ext uri="{FF2B5EF4-FFF2-40B4-BE49-F238E27FC236}">
                <a16:creationId xmlns:a16="http://schemas.microsoft.com/office/drawing/2014/main" id="{FD9AE325-AE08-1CF8-2658-08CC68529E6F}"/>
              </a:ext>
            </a:extLst>
          </p:cNvPr>
          <p:cNvSpPr/>
          <p:nvPr/>
        </p:nvSpPr>
        <p:spPr>
          <a:xfrm>
            <a:off x="4751787" y="4645380"/>
            <a:ext cx="2885133" cy="1302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Dimensionality reduction (7 features to 3 features)</a:t>
            </a:r>
          </a:p>
        </p:txBody>
      </p:sp>
      <p:sp>
        <p:nvSpPr>
          <p:cNvPr id="18" name="Arrow: Right 17">
            <a:extLst>
              <a:ext uri="{FF2B5EF4-FFF2-40B4-BE49-F238E27FC236}">
                <a16:creationId xmlns:a16="http://schemas.microsoft.com/office/drawing/2014/main" id="{D2FE17C2-2DDF-688D-AEB6-4C9BC7A7CC28}"/>
              </a:ext>
            </a:extLst>
          </p:cNvPr>
          <p:cNvSpPr/>
          <p:nvPr/>
        </p:nvSpPr>
        <p:spPr>
          <a:xfrm>
            <a:off x="3561926" y="2908046"/>
            <a:ext cx="1204516"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B31CD600-14EB-18FB-32BA-21806C48873D}"/>
              </a:ext>
            </a:extLst>
          </p:cNvPr>
          <p:cNvSpPr/>
          <p:nvPr/>
        </p:nvSpPr>
        <p:spPr>
          <a:xfrm rot="10800000">
            <a:off x="3548154" y="7521358"/>
            <a:ext cx="1204516"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350B0ECD-253C-C02C-F7D4-D9B7277E6969}"/>
              </a:ext>
            </a:extLst>
          </p:cNvPr>
          <p:cNvSpPr/>
          <p:nvPr/>
        </p:nvSpPr>
        <p:spPr>
          <a:xfrm>
            <a:off x="3575695" y="5138960"/>
            <a:ext cx="1204516"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6E7D1C2D-04A5-EEB6-0915-B9F91D85960A}"/>
              </a:ext>
            </a:extLst>
          </p:cNvPr>
          <p:cNvSpPr/>
          <p:nvPr/>
        </p:nvSpPr>
        <p:spPr>
          <a:xfrm>
            <a:off x="7665706" y="5138959"/>
            <a:ext cx="1204516"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E5819F60-D2AB-8319-DD74-84AF4E525EE5}"/>
              </a:ext>
            </a:extLst>
          </p:cNvPr>
          <p:cNvSpPr/>
          <p:nvPr/>
        </p:nvSpPr>
        <p:spPr>
          <a:xfrm>
            <a:off x="11714404" y="2908043"/>
            <a:ext cx="1314684"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597FB4DC-3E4F-8306-7C79-934BCA40AE55}"/>
              </a:ext>
            </a:extLst>
          </p:cNvPr>
          <p:cNvSpPr/>
          <p:nvPr/>
        </p:nvSpPr>
        <p:spPr>
          <a:xfrm>
            <a:off x="7651933" y="2921813"/>
            <a:ext cx="1204516"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71D3955F-1C0F-4E73-6AC0-CEB628C6C181}"/>
              </a:ext>
            </a:extLst>
          </p:cNvPr>
          <p:cNvSpPr/>
          <p:nvPr/>
        </p:nvSpPr>
        <p:spPr>
          <a:xfrm rot="10800000">
            <a:off x="11686864" y="7521357"/>
            <a:ext cx="1314684"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8CB88887-32B5-A421-4E65-52109F6CC8E6}"/>
              </a:ext>
            </a:extLst>
          </p:cNvPr>
          <p:cNvSpPr/>
          <p:nvPr/>
        </p:nvSpPr>
        <p:spPr>
          <a:xfrm rot="10800000">
            <a:off x="7624393" y="7548898"/>
            <a:ext cx="1204516" cy="2236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5502C92-AE80-3C1B-68B2-118003A6513D}"/>
              </a:ext>
            </a:extLst>
          </p:cNvPr>
          <p:cNvSpPr/>
          <p:nvPr/>
        </p:nvSpPr>
        <p:spPr>
          <a:xfrm rot="5400000">
            <a:off x="14062376" y="4071701"/>
            <a:ext cx="1025492" cy="278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8B1D0A0E-A4E8-290C-4AE8-8E5D449CD804}"/>
              </a:ext>
            </a:extLst>
          </p:cNvPr>
          <p:cNvSpPr/>
          <p:nvPr/>
        </p:nvSpPr>
        <p:spPr>
          <a:xfrm rot="5400000">
            <a:off x="14062375" y="6357700"/>
            <a:ext cx="1025492" cy="278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C7159FD5-7B3F-9D97-5283-EA691E1B5432}"/>
              </a:ext>
            </a:extLst>
          </p:cNvPr>
          <p:cNvSpPr/>
          <p:nvPr/>
        </p:nvSpPr>
        <p:spPr>
          <a:xfrm rot="-5400000">
            <a:off x="1627085" y="6316386"/>
            <a:ext cx="1025492" cy="278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947169" y="493727"/>
            <a:ext cx="11499175" cy="19553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Dataset Overview</a:t>
            </a:r>
          </a:p>
          <a:p>
            <a:pPr algn="ctr">
              <a:lnSpc>
                <a:spcPts val="7534"/>
              </a:lnSpc>
            </a:pPr>
            <a:endParaRPr lang="en-US" sz="6609" b="1">
              <a:solidFill>
                <a:srgbClr val="303870"/>
              </a:solidFill>
              <a:latin typeface="Times New Roman Bold"/>
              <a:ea typeface="Times New Roman Bold"/>
              <a:cs typeface="Times New Roman Bold"/>
              <a:sym typeface="Times New Roman Bold"/>
            </a:endParaRP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3103C758-CCFB-D7D6-F6DB-4AE6D61EE2F1}"/>
              </a:ext>
            </a:extLst>
          </p:cNvPr>
          <p:cNvSpPr/>
          <p:nvPr/>
        </p:nvSpPr>
        <p:spPr>
          <a:xfrm>
            <a:off x="17068800" y="-3810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Content Placeholder 3">
            <a:extLst>
              <a:ext uri="{FF2B5EF4-FFF2-40B4-BE49-F238E27FC236}">
                <a16:creationId xmlns:a16="http://schemas.microsoft.com/office/drawing/2014/main" id="{7B21E516-1A65-92D2-91B6-3803E24DE32A}"/>
              </a:ext>
            </a:extLst>
          </p:cNvPr>
          <p:cNvSpPr>
            <a:spLocks noGrp="1"/>
          </p:cNvSpPr>
          <p:nvPr>
            <p:ph idx="1"/>
          </p:nvPr>
        </p:nvSpPr>
        <p:spPr>
          <a:xfrm>
            <a:off x="1371600" y="2324100"/>
            <a:ext cx="14782800" cy="6781799"/>
          </a:xfrm>
        </p:spPr>
        <p:txBody>
          <a:bodyPr>
            <a:normAutofit/>
          </a:bodyPr>
          <a:lstStyle/>
          <a:p>
            <a:pPr marL="0" indent="0">
              <a:lnSpc>
                <a:spcPct val="150000"/>
              </a:lnSpc>
              <a:buNone/>
            </a:pPr>
            <a:r>
              <a:rPr lang="en-US"/>
              <a:t>• The dataset contains Spotify songs with various audio features and popularity            information.</a:t>
            </a:r>
            <a:br>
              <a:rPr lang="en-US"/>
            </a:br>
            <a:r>
              <a:rPr lang="en-US"/>
              <a:t>• Each row represents a song, and each column represents a specific feature.</a:t>
            </a:r>
            <a:br>
              <a:rPr lang="en-US"/>
            </a:br>
            <a:r>
              <a:rPr lang="en-US"/>
              <a:t>• It includes details like song characteristics, genre, and popularity metrics.</a:t>
            </a:r>
            <a:br>
              <a:rPr lang="en-US"/>
            </a:br>
            <a:r>
              <a:rPr lang="en-US"/>
              <a:t>• Covers multiple songs across different genres and years.</a:t>
            </a:r>
            <a:br>
              <a:rPr lang="en-US"/>
            </a:br>
            <a:r>
              <a:rPr lang="en-US"/>
              <a:t>• Audio features are numerical and useful for analysis and modeling.</a:t>
            </a:r>
            <a:br>
              <a:rPr lang="en-US"/>
            </a:br>
            <a:r>
              <a:rPr lang="en-US"/>
              <a:t>• Dataset may contain missing values and outliers, which require preprocessing.</a:t>
            </a:r>
            <a:br>
              <a:rPr lang="en-US"/>
            </a:br>
            <a:r>
              <a:rPr lang="en-US"/>
              <a:t>• Suitable for exploratory data analysis, visualization, and machine learning tasks.</a:t>
            </a:r>
            <a:br>
              <a:rPr lang="en-US"/>
            </a:br>
            <a:r>
              <a:rPr lang="en-US"/>
              <a:t>• Helps in understanding music trends and listener behavior patterns</a:t>
            </a: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883076"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Target Variable </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C39E63FF-1FF0-CEC9-380D-5323083DFA01}"/>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0A90F8AC-F4C5-74BB-02D5-F791AEBE2AFF}"/>
              </a:ext>
            </a:extLst>
          </p:cNvPr>
          <p:cNvSpPr txBox="1"/>
          <p:nvPr/>
        </p:nvSpPr>
        <p:spPr>
          <a:xfrm>
            <a:off x="1057550" y="2569755"/>
            <a:ext cx="15175338" cy="63401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mn-lt"/>
                <a:cs typeface="+mn-lt"/>
              </a:rPr>
              <a:t>Primary Target Variable = Popularity</a:t>
            </a:r>
            <a:br>
              <a:rPr lang="en-US" sz="3200">
                <a:ea typeface="+mn-lt"/>
                <a:cs typeface="+mn-lt"/>
              </a:rPr>
            </a:br>
            <a:r>
              <a:rPr lang="en-US" sz="3200">
                <a:ea typeface="+mn-lt"/>
                <a:cs typeface="+mn-lt"/>
              </a:rPr>
              <a:t>Genre = Supporting/analysis variable</a:t>
            </a:r>
            <a:endParaRPr lang="en-US" sz="3200">
              <a:ea typeface="Calibri"/>
              <a:cs typeface="Calibri"/>
            </a:endParaRPr>
          </a:p>
          <a:p>
            <a:endParaRPr lang="en-US" b="1">
              <a:ea typeface="Calibri"/>
              <a:cs typeface="Calibri"/>
            </a:endParaRPr>
          </a:p>
          <a:p>
            <a:pPr marL="285750" indent="-285750">
              <a:buFont typeface="Arial"/>
              <a:buChar char="•"/>
            </a:pPr>
            <a:r>
              <a:rPr lang="en-US" sz="3200" b="1">
                <a:ea typeface="+mn-lt"/>
                <a:cs typeface="+mn-lt"/>
              </a:rPr>
              <a:t>Represents song success</a:t>
            </a:r>
            <a:r>
              <a:rPr lang="en-US" sz="3200">
                <a:ea typeface="+mn-lt"/>
                <a:cs typeface="+mn-lt"/>
              </a:rPr>
              <a:t> → Popularity directly shows how well a song is received by listeners </a:t>
            </a:r>
            <a:endParaRPr lang="en-US"/>
          </a:p>
          <a:p>
            <a:pPr marL="285750" indent="-285750">
              <a:buFont typeface="Arial"/>
              <a:buChar char="•"/>
            </a:pPr>
            <a:r>
              <a:rPr lang="en-US" sz="3200" b="1">
                <a:ea typeface="+mn-lt"/>
                <a:cs typeface="+mn-lt"/>
              </a:rPr>
              <a:t>Main goal of analysis</a:t>
            </a:r>
            <a:r>
              <a:rPr lang="en-US" sz="3200">
                <a:ea typeface="+mn-lt"/>
                <a:cs typeface="+mn-lt"/>
              </a:rPr>
              <a:t> → The project aims to understand </a:t>
            </a:r>
            <a:r>
              <a:rPr lang="en-US" sz="3200" i="1">
                <a:ea typeface="+mn-lt"/>
                <a:cs typeface="+mn-lt"/>
              </a:rPr>
              <a:t>what makes a </a:t>
            </a:r>
            <a:r>
              <a:rPr lang="en-US" sz="3200">
                <a:ea typeface="+mn-lt"/>
                <a:cs typeface="+mn-lt"/>
              </a:rPr>
              <a:t>song popular </a:t>
            </a:r>
            <a:endParaRPr lang="en-US"/>
          </a:p>
          <a:p>
            <a:pPr marL="285750" indent="-285750">
              <a:buFont typeface="Arial"/>
              <a:buChar char="•"/>
            </a:pPr>
            <a:r>
              <a:rPr lang="en-US" sz="3200" b="1">
                <a:ea typeface="+mn-lt"/>
                <a:cs typeface="+mn-lt"/>
              </a:rPr>
              <a:t>Dependent on other features</a:t>
            </a:r>
            <a:r>
              <a:rPr lang="en-US" sz="3200">
                <a:ea typeface="+mn-lt"/>
                <a:cs typeface="+mn-lt"/>
              </a:rPr>
              <a:t> → Audio features like energy, danceability, tempo, and genre influence popularity </a:t>
            </a:r>
            <a:endParaRPr lang="en-US">
              <a:ea typeface="Calibri"/>
              <a:cs typeface="Calibri"/>
            </a:endParaRPr>
          </a:p>
          <a:p>
            <a:pPr marL="285750" indent="-285750">
              <a:buFont typeface="Arial"/>
              <a:buChar char="•"/>
            </a:pPr>
            <a:r>
              <a:rPr lang="en-US" sz="3200" b="1">
                <a:ea typeface="+mn-lt"/>
                <a:cs typeface="+mn-lt"/>
              </a:rPr>
              <a:t>Useful for prediction</a:t>
            </a:r>
            <a:r>
              <a:rPr lang="en-US" sz="3200">
                <a:ea typeface="+mn-lt"/>
                <a:cs typeface="+mn-lt"/>
              </a:rPr>
              <a:t> → Helps in building models to predict future hit songs </a:t>
            </a:r>
            <a:endParaRPr lang="en-US"/>
          </a:p>
          <a:p>
            <a:pPr marL="285750" indent="-285750">
              <a:buFont typeface="Arial"/>
              <a:buChar char="•"/>
            </a:pPr>
            <a:r>
              <a:rPr lang="en-US" sz="3200" b="1">
                <a:ea typeface="+mn-lt"/>
                <a:cs typeface="+mn-lt"/>
              </a:rPr>
              <a:t>Supports industry decisions</a:t>
            </a:r>
            <a:r>
              <a:rPr lang="en-US" sz="3200">
                <a:ea typeface="+mn-lt"/>
                <a:cs typeface="+mn-lt"/>
              </a:rPr>
              <a:t> → Artists and platforms (like Spotify) can use it to improve music production and recommendations</a:t>
            </a:r>
            <a:endParaRPr lang="en-US"/>
          </a:p>
          <a:p>
            <a:endParaRPr lang="en-US" sz="3200">
              <a:ea typeface="+mn-lt"/>
              <a:cs typeface="Calibri"/>
            </a:endParaRPr>
          </a:p>
          <a:p>
            <a:pPr algn="l"/>
            <a:endParaRPr lang="en-US" b="1">
              <a:ea typeface="Calibri"/>
              <a:cs typeface="Calibri"/>
            </a:endParaRPr>
          </a:p>
          <a:p>
            <a:endParaRPr lang="en-US">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690795"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Data Cleaning</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9133C281-28A8-84C6-5E2F-AF2E87C4EAB1}"/>
              </a:ext>
            </a:extLst>
          </p:cNvPr>
          <p:cNvSpPr/>
          <p:nvPr/>
        </p:nvSpPr>
        <p:spPr>
          <a:xfrm>
            <a:off x="17068800" y="-3810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6263EDAF-74A4-7C3A-FDD5-4D708E5EF880}"/>
              </a:ext>
            </a:extLst>
          </p:cNvPr>
          <p:cNvSpPr>
            <a:spLocks noGrp="1"/>
          </p:cNvSpPr>
          <p:nvPr>
            <p:ph idx="1"/>
          </p:nvPr>
        </p:nvSpPr>
        <p:spPr>
          <a:xfrm>
            <a:off x="1676400" y="2476500"/>
            <a:ext cx="14249400" cy="6248400"/>
          </a:xfrm>
        </p:spPr>
        <p:txBody>
          <a:bodyPr/>
          <a:lstStyle/>
          <a:p>
            <a:pPr marL="0" indent="0">
              <a:lnSpc>
                <a:spcPct val="150000"/>
              </a:lnSpc>
              <a:buNone/>
            </a:pPr>
            <a:r>
              <a:rPr lang="en-US"/>
              <a:t>• Missing values were handled using </a:t>
            </a:r>
            <a:r>
              <a:rPr lang="en-US" b="1"/>
              <a:t>mean imputation</a:t>
            </a:r>
            <a:r>
              <a:rPr lang="en-US"/>
              <a:t>, ensuring no data loss</a:t>
            </a:r>
            <a:br>
              <a:rPr lang="en-US"/>
            </a:br>
            <a:r>
              <a:rPr lang="en-US"/>
              <a:t>• Outliers were detected using </a:t>
            </a:r>
            <a:r>
              <a:rPr lang="en-US" b="1"/>
              <a:t>boxplots and Z-score methods</a:t>
            </a:r>
            <a:r>
              <a:rPr lang="en-US"/>
              <a:t> and treated accordingly</a:t>
            </a:r>
            <a:br>
              <a:rPr lang="en-US"/>
            </a:br>
            <a:r>
              <a:rPr lang="en-US"/>
              <a:t>• Duplicate records were removed to improve data quality</a:t>
            </a:r>
            <a:br>
              <a:rPr lang="en-US"/>
            </a:br>
            <a:r>
              <a:rPr lang="en-US"/>
              <a:t>• Data types were corrected for consistency and proper analysis</a:t>
            </a:r>
            <a:br>
              <a:rPr lang="en-US"/>
            </a:br>
            <a:r>
              <a:rPr lang="en-US"/>
              <a:t>• Data cleaning improved </a:t>
            </a:r>
            <a:r>
              <a:rPr lang="en-US" b="1"/>
              <a:t>accuracy, reliability, and consistency</a:t>
            </a:r>
            <a:r>
              <a:rPr lang="en-US"/>
              <a:t> of the dataset</a:t>
            </a:r>
            <a:br>
              <a:rPr lang="en-US"/>
            </a:br>
            <a:r>
              <a:rPr lang="en-US"/>
              <a:t>• Prepared a clean and structured dataset suitable for </a:t>
            </a:r>
            <a:r>
              <a:rPr lang="en-US" b="1"/>
              <a:t>EDA and modeling</a:t>
            </a: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209535"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Outlier Handling</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20D8F906-F8C8-D69C-EB65-BE363C9F0560}"/>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1">
            <a:extLst>
              <a:ext uri="{FF2B5EF4-FFF2-40B4-BE49-F238E27FC236}">
                <a16:creationId xmlns:a16="http://schemas.microsoft.com/office/drawing/2014/main" id="{7DDFFE8B-F228-0542-EE5A-E3975D3CD475}"/>
              </a:ext>
            </a:extLst>
          </p:cNvPr>
          <p:cNvSpPr>
            <a:spLocks noGrp="1" noChangeArrowheads="1"/>
          </p:cNvSpPr>
          <p:nvPr>
            <p:ph idx="1"/>
          </p:nvPr>
        </p:nvSpPr>
        <p:spPr bwMode="auto">
          <a:xfrm>
            <a:off x="1676400" y="2135950"/>
            <a:ext cx="14554200" cy="7171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a:ln>
                <a:noFill/>
              </a:ln>
              <a:solidFill>
                <a:schemeClr val="tx1"/>
              </a:solidFill>
              <a:effectLst/>
            </a:endParaRPr>
          </a:p>
          <a:p>
            <a:pPr eaLnBrk="0" fontAlgn="base" hangingPunct="0">
              <a:spcBef>
                <a:spcPct val="0"/>
              </a:spcBef>
              <a:spcAft>
                <a:spcPct val="0"/>
              </a:spcAft>
            </a:pPr>
            <a:r>
              <a:rPr kumimoji="0" lang="en-US" altLang="en-US" sz="3000" b="0" i="0" u="none" strike="noStrike" cap="none" normalizeH="0" baseline="0">
                <a:ln>
                  <a:noFill/>
                </a:ln>
                <a:solidFill>
                  <a:schemeClr val="tx1"/>
                </a:solidFill>
                <a:effectLst/>
              </a:rPr>
              <a:t>Outliers are extreme values that differ significantly from other data points </a:t>
            </a:r>
          </a:p>
          <a:p>
            <a:pPr eaLnBrk="0" fontAlgn="base" hangingPunct="0">
              <a:spcBef>
                <a:spcPct val="0"/>
              </a:spcBef>
              <a:spcAft>
                <a:spcPct val="0"/>
              </a:spcAft>
            </a:pPr>
            <a:r>
              <a:rPr kumimoji="0" lang="en-US" altLang="en-US" sz="3000" b="0" i="0" u="none" strike="noStrike" cap="none" normalizeH="0" baseline="0">
                <a:ln>
                  <a:noFill/>
                </a:ln>
                <a:solidFill>
                  <a:schemeClr val="tx1"/>
                </a:solidFill>
                <a:effectLst/>
              </a:rPr>
              <a:t>They can distort analysis and reduce model accuracy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Detection Methods Used:</a:t>
            </a:r>
            <a:r>
              <a:rPr kumimoji="0" lang="en-US" altLang="en-US" sz="3000" b="0" i="0" u="none" strike="noStrike" cap="none" normalizeH="0" baseline="0">
                <a:ln>
                  <a:noFill/>
                </a:ln>
                <a:solidFill>
                  <a:schemeClr val="tx1"/>
                </a:solidFill>
                <a:effectLst/>
              </a:rPr>
              <a:t>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Boxplots (to visually identify extreme values)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Z-score method (values beyond ±3 standard deviations)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Handling Approach:</a:t>
            </a:r>
            <a:r>
              <a:rPr kumimoji="0" lang="en-US" altLang="en-US" sz="3000" b="0" i="0" u="none" strike="noStrike" cap="none" normalizeH="0" baseline="0">
                <a:ln>
                  <a:noFill/>
                </a:ln>
                <a:solidFill>
                  <a:schemeClr val="tx1"/>
                </a:solidFill>
                <a:effectLst/>
              </a:rPr>
              <a:t>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Identified significant outliers carefully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Avoided unnecessary removal of data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Treated only impactful outliers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Benefits:</a:t>
            </a:r>
            <a:r>
              <a:rPr kumimoji="0" lang="en-US" altLang="en-US" sz="3000" b="0" i="0" u="none" strike="noStrike" cap="none" normalizeH="0" baseline="0">
                <a:ln>
                  <a:noFill/>
                </a:ln>
                <a:solidFill>
                  <a:schemeClr val="tx1"/>
                </a:solidFill>
                <a:effectLst/>
              </a:rPr>
              <a:t>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Improves data accuracy and reliability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Prevents misleading analysis results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Enhances visualization quality </a:t>
            </a:r>
          </a:p>
          <a:p>
            <a:pPr lvl="1"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Prepares dataset for better machine learning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a:ln>
                <a:noFill/>
              </a:ln>
              <a:solidFill>
                <a:schemeClr val="tx1"/>
              </a:solidFill>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C7111C69-DDEE-E9DD-1B25-6D61AA8A18E6}"/>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B42DCD31-F282-E09C-8654-B9891EEAFA4A}"/>
              </a:ext>
            </a:extLst>
          </p:cNvPr>
          <p:cNvSpPr txBox="1"/>
          <p:nvPr/>
        </p:nvSpPr>
        <p:spPr>
          <a:xfrm>
            <a:off x="2209535"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Outlier Handling</a:t>
            </a:r>
          </a:p>
        </p:txBody>
      </p:sp>
      <p:sp>
        <p:nvSpPr>
          <p:cNvPr id="6" name="Freeform 6">
            <a:extLst>
              <a:ext uri="{FF2B5EF4-FFF2-40B4-BE49-F238E27FC236}">
                <a16:creationId xmlns:a16="http://schemas.microsoft.com/office/drawing/2014/main" id="{00682BE2-4A11-5A1F-AB0A-3C94112E07A2}"/>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995EFAF2-535D-8EAD-EE1C-9408A02C8B0B}"/>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C2C5DB5F-A911-53CC-2DD2-99016E6D8C9F}"/>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Content Placeholder 8" descr="A diagram of a box plot&#10;&#10;AI-generated content may be incorrect.">
            <a:extLst>
              <a:ext uri="{FF2B5EF4-FFF2-40B4-BE49-F238E27FC236}">
                <a16:creationId xmlns:a16="http://schemas.microsoft.com/office/drawing/2014/main" id="{E4B530AB-4784-0C6D-C8A2-AD403D5CE617}"/>
              </a:ext>
            </a:extLst>
          </p:cNvPr>
          <p:cNvPicPr>
            <a:picLocks noGrp="1" noChangeAspect="1"/>
          </p:cNvPicPr>
          <p:nvPr>
            <p:ph idx="1"/>
          </p:nvPr>
        </p:nvPicPr>
        <p:blipFill>
          <a:blip r:embed="rId4"/>
          <a:stretch>
            <a:fillRect/>
          </a:stretch>
        </p:blipFill>
        <p:spPr>
          <a:xfrm>
            <a:off x="8695063" y="2302525"/>
            <a:ext cx="6943378" cy="5682732"/>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AA0E9F71-2E60-48DB-9FFE-F4D1362B207F}"/>
              </a:ext>
            </a:extLst>
          </p:cNvPr>
          <p:cNvPicPr>
            <a:picLocks noChangeAspect="1"/>
          </p:cNvPicPr>
          <p:nvPr/>
        </p:nvPicPr>
        <p:blipFill>
          <a:blip r:embed="rId5"/>
          <a:srcRect r="-335" b="210"/>
          <a:stretch>
            <a:fillRect/>
          </a:stretch>
        </p:blipFill>
        <p:spPr>
          <a:xfrm>
            <a:off x="1205601" y="2307574"/>
            <a:ext cx="7187248" cy="5699403"/>
          </a:xfrm>
          <a:prstGeom prst="rect">
            <a:avLst/>
          </a:prstGeom>
        </p:spPr>
      </p:pic>
    </p:spTree>
    <p:extLst>
      <p:ext uri="{BB962C8B-B14F-4D97-AF65-F5344CB8AC3E}">
        <p14:creationId xmlns:p14="http://schemas.microsoft.com/office/powerpoint/2010/main" val="347990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4" name="TextBox 4"/>
          <p:cNvSpPr txBox="1"/>
          <p:nvPr/>
        </p:nvSpPr>
        <p:spPr>
          <a:xfrm>
            <a:off x="17135464" y="-692823"/>
            <a:ext cx="1228736" cy="11384588"/>
          </a:xfrm>
          <a:prstGeom prst="rect">
            <a:avLst/>
          </a:prstGeom>
        </p:spPr>
        <p:txBody>
          <a:bodyPr lIns="50800" tIns="50800" rIns="50800" bIns="50800" rtlCol="0" anchor="ctr"/>
          <a:lstStyle/>
          <a:p>
            <a:pPr algn="ctr">
              <a:lnSpc>
                <a:spcPts val="3287"/>
              </a:lnSpc>
            </a:pPr>
            <a:endParaRPr/>
          </a:p>
        </p:txBody>
      </p:sp>
      <p:sp>
        <p:nvSpPr>
          <p:cNvPr id="5" name="TextBox 5"/>
          <p:cNvSpPr txBox="1"/>
          <p:nvPr/>
        </p:nvSpPr>
        <p:spPr>
          <a:xfrm>
            <a:off x="807002" y="429634"/>
            <a:ext cx="15510024"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Exploratory Data Analysis </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17E6B221-7856-EDB2-2C1C-F4934554A0A7}"/>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1">
            <a:extLst>
              <a:ext uri="{FF2B5EF4-FFF2-40B4-BE49-F238E27FC236}">
                <a16:creationId xmlns:a16="http://schemas.microsoft.com/office/drawing/2014/main" id="{4A03781E-5F34-EA87-4920-85EF6F975D28}"/>
              </a:ext>
            </a:extLst>
          </p:cNvPr>
          <p:cNvSpPr>
            <a:spLocks noGrp="1" noChangeArrowheads="1"/>
          </p:cNvSpPr>
          <p:nvPr>
            <p:ph idx="1"/>
          </p:nvPr>
        </p:nvSpPr>
        <p:spPr bwMode="auto">
          <a:xfrm>
            <a:off x="2209535" y="1858854"/>
            <a:ext cx="12573265" cy="8032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a:ln>
                  <a:noFill/>
                </a:ln>
                <a:solidFill>
                  <a:schemeClr val="tx1"/>
                </a:solidFill>
                <a:effectLst/>
              </a:rPr>
              <a:t>Understands data patterns and trends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Univariate Analysis:</a:t>
            </a:r>
            <a:r>
              <a:rPr kumimoji="0" lang="en-US" altLang="en-US" sz="3000" b="0" i="0" u="none" strike="noStrike" cap="none" normalizeH="0" baseline="0">
                <a:ln>
                  <a:noFill/>
                </a:ln>
                <a:solidFill>
                  <a:schemeClr val="tx1"/>
                </a:solidFill>
                <a:effectLst/>
              </a:rPr>
              <a:t>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Popularity is mostly in 40–60 range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Energy &amp; danceability are moderate to high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Tempo varies widely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Genre imbalance exists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Bivariate Analysis:</a:t>
            </a:r>
            <a:r>
              <a:rPr kumimoji="0" lang="en-US" altLang="en-US" sz="3000" b="0" i="0" u="none" strike="noStrike" cap="none" normalizeH="0" baseline="0">
                <a:ln>
                  <a:noFill/>
                </a:ln>
                <a:solidFill>
                  <a:schemeClr val="tx1"/>
                </a:solidFill>
                <a:effectLst/>
              </a:rPr>
              <a:t>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Popularity changes over years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Some genres are more popular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Energy &amp; danceability show slight positive impact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Key Insights:</a:t>
            </a:r>
            <a:r>
              <a:rPr kumimoji="0" lang="en-US" altLang="en-US" sz="3000" b="0" i="0" u="none" strike="noStrike" cap="none" normalizeH="0" baseline="0">
                <a:ln>
                  <a:noFill/>
                </a:ln>
                <a:solidFill>
                  <a:schemeClr val="tx1"/>
                </a:solidFill>
                <a:effectLst/>
              </a:rPr>
              <a:t>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Most songs are moderately popular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No single feature dominates popularity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000" b="1" i="0" u="none" strike="noStrike" cap="none" normalizeH="0" baseline="0">
                <a:ln>
                  <a:noFill/>
                </a:ln>
                <a:solidFill>
                  <a:schemeClr val="tx1"/>
                </a:solidFill>
                <a:effectLst/>
              </a:rPr>
              <a:t>Benefits:</a:t>
            </a:r>
            <a:r>
              <a:rPr kumimoji="0" lang="en-US" altLang="en-US" sz="3000" b="0" i="0" u="none" strike="noStrike" cap="none" normalizeH="0" baseline="0">
                <a:ln>
                  <a:noFill/>
                </a:ln>
                <a:solidFill>
                  <a:schemeClr val="tx1"/>
                </a:solidFill>
                <a:effectLst/>
              </a:rPr>
              <a:t>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Identifies patterns and relationships </a:t>
            </a:r>
          </a:p>
          <a:p>
            <a:pPr marL="857250" lvl="1" indent="-457200" eaLnBrk="0" fontAlgn="base" hangingPunct="0">
              <a:spcBef>
                <a:spcPct val="0"/>
              </a:spcBef>
              <a:spcAft>
                <a:spcPct val="0"/>
              </a:spcAft>
              <a:buFont typeface="Arial" panose="020B0604020202020204" pitchFamily="34" charset="0"/>
              <a:buChar char="•"/>
            </a:pPr>
            <a:r>
              <a:rPr kumimoji="0" lang="en-US" altLang="en-US" sz="2600" b="0" i="0" u="none" strike="noStrike" cap="none" normalizeH="0" baseline="0">
                <a:ln>
                  <a:noFill/>
                </a:ln>
                <a:solidFill>
                  <a:schemeClr val="tx1"/>
                </a:solidFill>
                <a:effectLst/>
              </a:rPr>
              <a:t>Supports better analysis and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a:ln>
                <a:noFill/>
              </a:ln>
              <a:solidFill>
                <a:schemeClr val="tx1"/>
              </a:solidFill>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E6EDA1B8-E344-4A53-4B06-61EFBE4DB2CE}"/>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7E75C87-5D58-0CD4-3A63-85F84F09B148}"/>
              </a:ext>
            </a:extLst>
          </p:cNvPr>
          <p:cNvSpPr txBox="1"/>
          <p:nvPr/>
        </p:nvSpPr>
        <p:spPr>
          <a:xfrm>
            <a:off x="17135464" y="-692823"/>
            <a:ext cx="1228736" cy="11384588"/>
          </a:xfrm>
          <a:prstGeom prst="rect">
            <a:avLst/>
          </a:prstGeom>
        </p:spPr>
        <p:txBody>
          <a:bodyPr lIns="50800" tIns="50800" rIns="50800" bIns="50800" rtlCol="0" anchor="ctr"/>
          <a:lstStyle/>
          <a:p>
            <a:pPr algn="ctr">
              <a:lnSpc>
                <a:spcPts val="3287"/>
              </a:lnSpc>
            </a:pPr>
            <a:endParaRPr/>
          </a:p>
        </p:txBody>
      </p:sp>
      <p:sp>
        <p:nvSpPr>
          <p:cNvPr id="5" name="TextBox 5">
            <a:extLst>
              <a:ext uri="{FF2B5EF4-FFF2-40B4-BE49-F238E27FC236}">
                <a16:creationId xmlns:a16="http://schemas.microsoft.com/office/drawing/2014/main" id="{C9788AF2-25A8-D117-57F1-856CD461E551}"/>
              </a:ext>
            </a:extLst>
          </p:cNvPr>
          <p:cNvSpPr txBox="1"/>
          <p:nvPr/>
        </p:nvSpPr>
        <p:spPr>
          <a:xfrm>
            <a:off x="807002" y="429634"/>
            <a:ext cx="15510024"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Exploratory Data Analysis </a:t>
            </a:r>
          </a:p>
        </p:txBody>
      </p:sp>
      <p:sp>
        <p:nvSpPr>
          <p:cNvPr id="6" name="Freeform 6">
            <a:extLst>
              <a:ext uri="{FF2B5EF4-FFF2-40B4-BE49-F238E27FC236}">
                <a16:creationId xmlns:a16="http://schemas.microsoft.com/office/drawing/2014/main" id="{B07CD0F7-C975-9081-CC21-78A77BBFA3D4}"/>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B7C110A7-B5B4-06EC-62BD-4D006C57063D}"/>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A60D9C6C-4EB1-4DF3-F773-5C509DA74D8D}"/>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Content Placeholder 9" descr="A graph of distribution of popularity&#10;&#10;AI-generated content may be incorrect.">
            <a:extLst>
              <a:ext uri="{FF2B5EF4-FFF2-40B4-BE49-F238E27FC236}">
                <a16:creationId xmlns:a16="http://schemas.microsoft.com/office/drawing/2014/main" id="{8EA2B4E7-8F96-5E40-EE62-1111F6B2DE63}"/>
              </a:ext>
            </a:extLst>
          </p:cNvPr>
          <p:cNvPicPr>
            <a:picLocks noGrp="1" noChangeAspect="1"/>
          </p:cNvPicPr>
          <p:nvPr>
            <p:ph idx="1"/>
          </p:nvPr>
        </p:nvPicPr>
        <p:blipFill>
          <a:blip r:embed="rId4"/>
          <a:stretch>
            <a:fillRect/>
          </a:stretch>
        </p:blipFill>
        <p:spPr>
          <a:xfrm>
            <a:off x="359945" y="2743200"/>
            <a:ext cx="7784030" cy="5333683"/>
          </a:xfrm>
          <a:prstGeom prst="rect">
            <a:avLst/>
          </a:prstGeom>
        </p:spPr>
      </p:pic>
      <p:pic>
        <p:nvPicPr>
          <p:cNvPr id="11" name="Picture 10" descr="A graph of energy distribution&#10;&#10;AI-generated content may be incorrect.">
            <a:extLst>
              <a:ext uri="{FF2B5EF4-FFF2-40B4-BE49-F238E27FC236}">
                <a16:creationId xmlns:a16="http://schemas.microsoft.com/office/drawing/2014/main" id="{3AEA4ACD-64F1-66AF-D23E-BAFC7F3CBC61}"/>
              </a:ext>
            </a:extLst>
          </p:cNvPr>
          <p:cNvPicPr>
            <a:picLocks noChangeAspect="1"/>
          </p:cNvPicPr>
          <p:nvPr/>
        </p:nvPicPr>
        <p:blipFill>
          <a:blip r:embed="rId5"/>
          <a:stretch>
            <a:fillRect/>
          </a:stretch>
        </p:blipFill>
        <p:spPr>
          <a:xfrm>
            <a:off x="8569643" y="2720340"/>
            <a:ext cx="7762875" cy="5334000"/>
          </a:xfrm>
          <a:prstGeom prst="rect">
            <a:avLst/>
          </a:prstGeom>
        </p:spPr>
      </p:pic>
    </p:spTree>
    <p:extLst>
      <p:ext uri="{BB962C8B-B14F-4D97-AF65-F5344CB8AC3E}">
        <p14:creationId xmlns:p14="http://schemas.microsoft.com/office/powerpoint/2010/main" val="4147370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440A2901-E892-177A-EACF-07EF4A406B03}"/>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6720D5B9-2322-C606-EFF9-F99C6CFA4834}"/>
              </a:ext>
            </a:extLst>
          </p:cNvPr>
          <p:cNvSpPr txBox="1"/>
          <p:nvPr/>
        </p:nvSpPr>
        <p:spPr>
          <a:xfrm>
            <a:off x="17135464" y="-692823"/>
            <a:ext cx="1228736" cy="11384588"/>
          </a:xfrm>
          <a:prstGeom prst="rect">
            <a:avLst/>
          </a:prstGeom>
        </p:spPr>
        <p:txBody>
          <a:bodyPr lIns="50800" tIns="50800" rIns="50800" bIns="50800" rtlCol="0" anchor="ctr"/>
          <a:lstStyle/>
          <a:p>
            <a:pPr algn="ctr">
              <a:lnSpc>
                <a:spcPts val="3287"/>
              </a:lnSpc>
            </a:pPr>
            <a:endParaRPr/>
          </a:p>
        </p:txBody>
      </p:sp>
      <p:sp>
        <p:nvSpPr>
          <p:cNvPr id="5" name="TextBox 5">
            <a:extLst>
              <a:ext uri="{FF2B5EF4-FFF2-40B4-BE49-F238E27FC236}">
                <a16:creationId xmlns:a16="http://schemas.microsoft.com/office/drawing/2014/main" id="{A5117D94-0A70-0C0F-2DE1-5157F58532B2}"/>
              </a:ext>
            </a:extLst>
          </p:cNvPr>
          <p:cNvSpPr txBox="1"/>
          <p:nvPr/>
        </p:nvSpPr>
        <p:spPr>
          <a:xfrm>
            <a:off x="807002" y="429634"/>
            <a:ext cx="15510024"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Exploratory Data Analysis </a:t>
            </a:r>
          </a:p>
        </p:txBody>
      </p:sp>
      <p:sp>
        <p:nvSpPr>
          <p:cNvPr id="6" name="Freeform 6">
            <a:extLst>
              <a:ext uri="{FF2B5EF4-FFF2-40B4-BE49-F238E27FC236}">
                <a16:creationId xmlns:a16="http://schemas.microsoft.com/office/drawing/2014/main" id="{C49241D0-100C-E2D0-5BAD-78EA78299478}"/>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B4A79EDB-B68B-E1C9-893B-0460B8681BED}"/>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F6469146-E3BD-55FC-F3E1-746E5EBEEEF6}"/>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Content Placeholder 9" descr="A graph with purple lines&#10;&#10;AI-generated content may be incorrect.">
            <a:extLst>
              <a:ext uri="{FF2B5EF4-FFF2-40B4-BE49-F238E27FC236}">
                <a16:creationId xmlns:a16="http://schemas.microsoft.com/office/drawing/2014/main" id="{D15F984E-D89A-A488-BD85-B4CEC355CBE1}"/>
              </a:ext>
            </a:extLst>
          </p:cNvPr>
          <p:cNvPicPr>
            <a:picLocks noGrp="1" noChangeAspect="1"/>
          </p:cNvPicPr>
          <p:nvPr>
            <p:ph idx="1"/>
          </p:nvPr>
        </p:nvPicPr>
        <p:blipFill>
          <a:blip r:embed="rId4"/>
          <a:stretch>
            <a:fillRect/>
          </a:stretch>
        </p:blipFill>
        <p:spPr>
          <a:xfrm>
            <a:off x="516136" y="2697480"/>
            <a:ext cx="7029687" cy="5455603"/>
          </a:xfrm>
          <a:prstGeom prst="rect">
            <a:avLst/>
          </a:prstGeom>
        </p:spPr>
      </p:pic>
      <p:pic>
        <p:nvPicPr>
          <p:cNvPr id="11" name="Picture 10" descr="A graph with blue lines&#10;&#10;AI-generated content may be incorrect.">
            <a:extLst>
              <a:ext uri="{FF2B5EF4-FFF2-40B4-BE49-F238E27FC236}">
                <a16:creationId xmlns:a16="http://schemas.microsoft.com/office/drawing/2014/main" id="{377E2B76-E895-C356-1921-7A45BE32273D}"/>
              </a:ext>
            </a:extLst>
          </p:cNvPr>
          <p:cNvPicPr>
            <a:picLocks noChangeAspect="1"/>
          </p:cNvPicPr>
          <p:nvPr/>
        </p:nvPicPr>
        <p:blipFill>
          <a:blip r:embed="rId5"/>
          <a:stretch>
            <a:fillRect/>
          </a:stretch>
        </p:blipFill>
        <p:spPr>
          <a:xfrm>
            <a:off x="7724775" y="2703195"/>
            <a:ext cx="9086850" cy="5444490"/>
          </a:xfrm>
          <a:prstGeom prst="rect">
            <a:avLst/>
          </a:prstGeom>
        </p:spPr>
      </p:pic>
    </p:spTree>
    <p:extLst>
      <p:ext uri="{BB962C8B-B14F-4D97-AF65-F5344CB8AC3E}">
        <p14:creationId xmlns:p14="http://schemas.microsoft.com/office/powerpoint/2010/main" val="3042127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5818CB82-36C9-6830-05B6-A33C696493BC}"/>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5B8D0C3D-8B43-6432-E4ED-246F7B35948B}"/>
              </a:ext>
            </a:extLst>
          </p:cNvPr>
          <p:cNvSpPr txBox="1"/>
          <p:nvPr/>
        </p:nvSpPr>
        <p:spPr>
          <a:xfrm>
            <a:off x="17135464" y="-692823"/>
            <a:ext cx="1228736" cy="11384588"/>
          </a:xfrm>
          <a:prstGeom prst="rect">
            <a:avLst/>
          </a:prstGeom>
        </p:spPr>
        <p:txBody>
          <a:bodyPr lIns="50800" tIns="50800" rIns="50800" bIns="50800" rtlCol="0" anchor="ctr"/>
          <a:lstStyle/>
          <a:p>
            <a:pPr algn="ctr">
              <a:lnSpc>
                <a:spcPts val="3287"/>
              </a:lnSpc>
            </a:pPr>
            <a:endParaRPr/>
          </a:p>
        </p:txBody>
      </p:sp>
      <p:sp>
        <p:nvSpPr>
          <p:cNvPr id="5" name="TextBox 5">
            <a:extLst>
              <a:ext uri="{FF2B5EF4-FFF2-40B4-BE49-F238E27FC236}">
                <a16:creationId xmlns:a16="http://schemas.microsoft.com/office/drawing/2014/main" id="{BAA07541-D691-8A50-912E-DAECF9257052}"/>
              </a:ext>
            </a:extLst>
          </p:cNvPr>
          <p:cNvSpPr txBox="1"/>
          <p:nvPr/>
        </p:nvSpPr>
        <p:spPr>
          <a:xfrm>
            <a:off x="807002" y="429634"/>
            <a:ext cx="15510024"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Exploratory Data Analysis </a:t>
            </a:r>
          </a:p>
        </p:txBody>
      </p:sp>
      <p:sp>
        <p:nvSpPr>
          <p:cNvPr id="6" name="Freeform 6">
            <a:extLst>
              <a:ext uri="{FF2B5EF4-FFF2-40B4-BE49-F238E27FC236}">
                <a16:creationId xmlns:a16="http://schemas.microsoft.com/office/drawing/2014/main" id="{D1437DC2-0CB4-DB8B-02AB-FE1F58E40974}"/>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A8202C24-7220-4463-C3D9-D065F24F3EAE}"/>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B7DCBC72-EB14-C9C8-B3D2-C396328306F5}"/>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descr="A graph showing different colored circles&#10;&#10;AI-generated content may be incorrect.">
            <a:extLst>
              <a:ext uri="{FF2B5EF4-FFF2-40B4-BE49-F238E27FC236}">
                <a16:creationId xmlns:a16="http://schemas.microsoft.com/office/drawing/2014/main" id="{EB530BBD-84EA-BAAD-BA4E-E441DE142BA8}"/>
              </a:ext>
            </a:extLst>
          </p:cNvPr>
          <p:cNvPicPr>
            <a:picLocks noChangeAspect="1"/>
          </p:cNvPicPr>
          <p:nvPr/>
        </p:nvPicPr>
        <p:blipFill>
          <a:blip r:embed="rId4"/>
          <a:stretch>
            <a:fillRect/>
          </a:stretch>
        </p:blipFill>
        <p:spPr>
          <a:xfrm>
            <a:off x="653415" y="2191703"/>
            <a:ext cx="7319010" cy="4989195"/>
          </a:xfrm>
          <a:prstGeom prst="rect">
            <a:avLst/>
          </a:prstGeom>
        </p:spPr>
      </p:pic>
      <p:pic>
        <p:nvPicPr>
          <p:cNvPr id="14" name="Picture 13">
            <a:extLst>
              <a:ext uri="{FF2B5EF4-FFF2-40B4-BE49-F238E27FC236}">
                <a16:creationId xmlns:a16="http://schemas.microsoft.com/office/drawing/2014/main" id="{7B2FFDB4-3E47-9B4E-4B4E-71ADA69640AF}"/>
              </a:ext>
            </a:extLst>
          </p:cNvPr>
          <p:cNvPicPr>
            <a:picLocks noChangeAspect="1"/>
          </p:cNvPicPr>
          <p:nvPr/>
        </p:nvPicPr>
        <p:blipFill>
          <a:blip r:embed="rId5"/>
          <a:stretch>
            <a:fillRect/>
          </a:stretch>
        </p:blipFill>
        <p:spPr>
          <a:xfrm>
            <a:off x="8338185" y="2190750"/>
            <a:ext cx="7524750" cy="4991100"/>
          </a:xfrm>
          <a:prstGeom prst="rect">
            <a:avLst/>
          </a:prstGeom>
        </p:spPr>
      </p:pic>
    </p:spTree>
    <p:extLst>
      <p:ext uri="{BB962C8B-B14F-4D97-AF65-F5344CB8AC3E}">
        <p14:creationId xmlns:p14="http://schemas.microsoft.com/office/powerpoint/2010/main" val="3250426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690795"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Correlation Analysis</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0997B361-3C0D-DBC1-07BA-D199D8259461}"/>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1">
            <a:extLst>
              <a:ext uri="{FF2B5EF4-FFF2-40B4-BE49-F238E27FC236}">
                <a16:creationId xmlns:a16="http://schemas.microsoft.com/office/drawing/2014/main" id="{CB05F38E-D5CE-6A2F-4DDB-7094CAA00B5C}"/>
              </a:ext>
            </a:extLst>
          </p:cNvPr>
          <p:cNvSpPr>
            <a:spLocks noGrp="1" noChangeArrowheads="1"/>
          </p:cNvSpPr>
          <p:nvPr>
            <p:ph idx="1"/>
          </p:nvPr>
        </p:nvSpPr>
        <p:spPr bwMode="auto">
          <a:xfrm>
            <a:off x="2209535" y="2624609"/>
            <a:ext cx="1280186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None/>
            </a:pPr>
            <a:endParaRPr kumimoji="0" lang="en-US" altLang="en-US" b="0" i="0" u="none" strike="noStrike" cap="none" normalizeH="0" baseline="0">
              <a:ln>
                <a:noFill/>
              </a:ln>
              <a:solidFill>
                <a:schemeClr val="tx1"/>
              </a:solidFill>
              <a:effectLst/>
            </a:endParaRP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Shows how strongly features are related to each other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Uses correlation matrix (heatmap) for easy visualization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Values range from -1 (negative) to +1 (positive relationship)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Most values are near 0 → very weak relationships between features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No strong correlation found between audio features and popularity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Features like energy, danceability, and tempo have only slight influence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Indicates popularity depends on multiple combined factors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Helps in selecting useful features and improving analysis </a:t>
            </a:r>
          </a:p>
          <a:p>
            <a:pPr eaLnBrk="0" fontAlgn="base" hangingPunct="0">
              <a:spcBef>
                <a:spcPct val="0"/>
              </a:spcBef>
              <a:spcAft>
                <a:spcPct val="0"/>
              </a:spcAft>
            </a:pPr>
            <a:endParaRPr lang="en-US" altLang="en-US"/>
          </a:p>
          <a:p>
            <a:pPr marL="0" indent="0" eaLnBrk="0" fontAlgn="base" hangingPunct="0">
              <a:spcBef>
                <a:spcPct val="0"/>
              </a:spcBef>
              <a:spcAft>
                <a:spcPct val="0"/>
              </a:spcAft>
              <a:buNone/>
            </a:pPr>
            <a:endParaRPr kumimoji="0" lang="en-US" altLang="en-US" b="0" i="0" u="none" strike="noStrike" cap="none" normalizeH="0" baseline="0">
              <a:ln>
                <a:noFill/>
              </a:ln>
              <a:solidFill>
                <a:schemeClr val="tx1"/>
              </a:solidFill>
              <a:effectLst/>
            </a:endParaRPr>
          </a:p>
          <a:p>
            <a:pPr marL="0" indent="0" eaLnBrk="0" fontAlgn="base" hangingPunct="0">
              <a:spcBef>
                <a:spcPct val="0"/>
              </a:spcBef>
              <a:spcAft>
                <a:spcPct val="0"/>
              </a:spcAft>
              <a:buNone/>
            </a:pPr>
            <a:endParaRPr kumimoji="0" lang="en-US" altLang="en-US" b="0" i="0" u="none" strike="noStrike" cap="none" normalizeH="0" baseline="0">
              <a:ln>
                <a:noFill/>
              </a:ln>
              <a:solidFill>
                <a:schemeClr val="tx1"/>
              </a:solidFill>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0F55FB0E-4BFC-710B-5DCE-4C41F4489C06}"/>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DD1C9E85-7B95-1E65-E67A-28EE1EDF0FFD}"/>
              </a:ext>
            </a:extLst>
          </p:cNvPr>
          <p:cNvSpPr txBox="1"/>
          <p:nvPr/>
        </p:nvSpPr>
        <p:spPr>
          <a:xfrm>
            <a:off x="2690795"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Correlation Analysis</a:t>
            </a:r>
          </a:p>
        </p:txBody>
      </p:sp>
      <p:sp>
        <p:nvSpPr>
          <p:cNvPr id="6" name="Freeform 6">
            <a:extLst>
              <a:ext uri="{FF2B5EF4-FFF2-40B4-BE49-F238E27FC236}">
                <a16:creationId xmlns:a16="http://schemas.microsoft.com/office/drawing/2014/main" id="{1BA32E70-3B8C-06FD-1059-70C214152982}"/>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28ADA1E7-2D56-3DD7-114B-4B0588CA01ED}"/>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EE3208E7-9534-32C9-EC8C-020EBF171D20}"/>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Content Placeholder 8" descr="A screenshot of a computer screen&#10;&#10;AI-generated content may be incorrect.">
            <a:extLst>
              <a:ext uri="{FF2B5EF4-FFF2-40B4-BE49-F238E27FC236}">
                <a16:creationId xmlns:a16="http://schemas.microsoft.com/office/drawing/2014/main" id="{B2BA7BF9-3607-68E3-2393-1CDF52607AA6}"/>
              </a:ext>
            </a:extLst>
          </p:cNvPr>
          <p:cNvPicPr>
            <a:picLocks noGrp="1" noChangeAspect="1"/>
          </p:cNvPicPr>
          <p:nvPr>
            <p:ph idx="1"/>
          </p:nvPr>
        </p:nvPicPr>
        <p:blipFill>
          <a:blip r:embed="rId4"/>
          <a:stretch>
            <a:fillRect/>
          </a:stretch>
        </p:blipFill>
        <p:spPr>
          <a:xfrm>
            <a:off x="1509140" y="2400300"/>
            <a:ext cx="12362925" cy="6781801"/>
          </a:xfrm>
          <a:prstGeom prst="rect">
            <a:avLst/>
          </a:prstGeom>
        </p:spPr>
      </p:pic>
    </p:spTree>
    <p:extLst>
      <p:ext uri="{BB962C8B-B14F-4D97-AF65-F5344CB8AC3E}">
        <p14:creationId xmlns:p14="http://schemas.microsoft.com/office/powerpoint/2010/main" val="3864471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786936"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Feature Engineering</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8525BD67-6EEC-0B42-4638-CDE707DE4551}"/>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1">
            <a:extLst>
              <a:ext uri="{FF2B5EF4-FFF2-40B4-BE49-F238E27FC236}">
                <a16:creationId xmlns:a16="http://schemas.microsoft.com/office/drawing/2014/main" id="{1399F1F2-6165-0B2D-7A6E-D5A0B5253D91}"/>
              </a:ext>
            </a:extLst>
          </p:cNvPr>
          <p:cNvSpPr>
            <a:spLocks noGrp="1" noChangeArrowheads="1"/>
          </p:cNvSpPr>
          <p:nvPr>
            <p:ph idx="1"/>
          </p:nvPr>
        </p:nvSpPr>
        <p:spPr bwMode="auto">
          <a:xfrm>
            <a:off x="2438400" y="1864058"/>
            <a:ext cx="1268242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endParaRPr kumimoji="0" lang="en-US" altLang="en-US" b="0" i="0" u="none" strike="noStrike" cap="none" normalizeH="0" baseline="0">
              <a:ln>
                <a:noFill/>
              </a:ln>
              <a:solidFill>
                <a:schemeClr val="tx1"/>
              </a:solidFill>
              <a:effectLst/>
            </a:endParaRPr>
          </a:p>
          <a:p>
            <a:pPr marL="0" indent="0" eaLnBrk="0" fontAlgn="base" hangingPunct="0">
              <a:spcBef>
                <a:spcPct val="0"/>
              </a:spcBef>
              <a:spcAft>
                <a:spcPct val="0"/>
              </a:spcAft>
              <a:buNone/>
            </a:pPr>
            <a:endParaRPr kumimoji="0" lang="en-US" altLang="en-US" b="0" i="0" u="none" strike="noStrike" cap="none" normalizeH="0" baseline="0">
              <a:ln>
                <a:noFill/>
              </a:ln>
              <a:solidFill>
                <a:schemeClr val="tx1"/>
              </a:solidFill>
              <a:effectLst/>
            </a:endParaRP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Process of transforming data to improve model performance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Converts raw data into a more useful and meaningful format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Applied </a:t>
            </a:r>
            <a:r>
              <a:rPr kumimoji="0" lang="en-US" altLang="en-US" b="1" i="0" u="none" strike="noStrike" cap="none" normalizeH="0" baseline="0">
                <a:ln>
                  <a:noFill/>
                </a:ln>
                <a:solidFill>
                  <a:schemeClr val="tx1"/>
                </a:solidFill>
                <a:effectLst/>
              </a:rPr>
              <a:t>Standard Scaling</a:t>
            </a:r>
            <a:r>
              <a:rPr kumimoji="0" lang="en-US" altLang="en-US" b="0" i="0" u="none" strike="noStrike" cap="none" normalizeH="0" baseline="0">
                <a:ln>
                  <a:noFill/>
                </a:ln>
                <a:solidFill>
                  <a:schemeClr val="tx1"/>
                </a:solidFill>
                <a:effectLst/>
              </a:rPr>
              <a:t> to normalize numerical features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Used </a:t>
            </a:r>
            <a:r>
              <a:rPr kumimoji="0" lang="en-US" altLang="en-US" b="1" i="0" u="none" strike="noStrike" cap="none" normalizeH="0" baseline="0">
                <a:ln>
                  <a:noFill/>
                </a:ln>
                <a:solidFill>
                  <a:schemeClr val="tx1"/>
                </a:solidFill>
                <a:effectLst/>
              </a:rPr>
              <a:t>Label Encoding</a:t>
            </a:r>
            <a:r>
              <a:rPr kumimoji="0" lang="en-US" altLang="en-US" b="0" i="0" u="none" strike="noStrike" cap="none" normalizeH="0" baseline="0">
                <a:ln>
                  <a:noFill/>
                </a:ln>
                <a:solidFill>
                  <a:schemeClr val="tx1"/>
                </a:solidFill>
                <a:effectLst/>
              </a:rPr>
              <a:t> to convert categorical data into numeric form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Handled skewness using </a:t>
            </a:r>
            <a:r>
              <a:rPr kumimoji="0" lang="en-US" altLang="en-US" b="1" i="0" u="none" strike="noStrike" cap="none" normalizeH="0" baseline="0">
                <a:ln>
                  <a:noFill/>
                </a:ln>
                <a:solidFill>
                  <a:schemeClr val="tx1"/>
                </a:solidFill>
                <a:effectLst/>
              </a:rPr>
              <a:t>power transformation (Yeo-Johnson)</a:t>
            </a:r>
            <a:r>
              <a:rPr kumimoji="0" lang="en-US" altLang="en-US" b="0" i="0" u="none" strike="noStrike" cap="none" normalizeH="0" baseline="0">
                <a:ln>
                  <a:noFill/>
                </a:ln>
                <a:solidFill>
                  <a:schemeClr val="tx1"/>
                </a:solidFill>
                <a:effectLst/>
              </a:rPr>
              <a:t>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Reduced data imbalance and improved distribution of features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Helps models learn better patterns from the data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Improves accuracy and overall analysis quality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a:p>
          <a:p>
            <a:pPr eaLnBrk="0" fontAlgn="base" hangingPunct="0">
              <a:spcBef>
                <a:spcPct val="0"/>
              </a:spcBef>
              <a:spcAft>
                <a:spcPct val="0"/>
              </a:spcAft>
            </a:pPr>
            <a:endParaRPr kumimoji="0" lang="en-US" altLang="en-US" b="0" i="0" u="none" strike="noStrike" cap="none" normalizeH="0" baseline="0">
              <a:ln>
                <a:noFill/>
              </a:ln>
              <a:solidFill>
                <a:schemeClr val="tx1"/>
              </a:solidFill>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37B10069-B8D6-9540-09F8-77FE1B827FD6}"/>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59216569-95BE-ED44-9D37-2E9E3D81F1AC}"/>
              </a:ext>
            </a:extLst>
          </p:cNvPr>
          <p:cNvSpPr txBox="1"/>
          <p:nvPr/>
        </p:nvSpPr>
        <p:spPr>
          <a:xfrm>
            <a:off x="2786936"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Feature Engineering</a:t>
            </a:r>
          </a:p>
        </p:txBody>
      </p:sp>
      <p:sp>
        <p:nvSpPr>
          <p:cNvPr id="6" name="Freeform 6">
            <a:extLst>
              <a:ext uri="{FF2B5EF4-FFF2-40B4-BE49-F238E27FC236}">
                <a16:creationId xmlns:a16="http://schemas.microsoft.com/office/drawing/2014/main" id="{E231A890-A99C-6648-A9E5-7CD4C2A127D7}"/>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AB5B6E18-353B-48D2-DDE9-EF70ACE859A6}"/>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8319306C-82B9-37AE-53C0-2AEE04631363}"/>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A graph of distribution of a dance&#10;&#10;AI-generated content may be incorrect.">
            <a:extLst>
              <a:ext uri="{FF2B5EF4-FFF2-40B4-BE49-F238E27FC236}">
                <a16:creationId xmlns:a16="http://schemas.microsoft.com/office/drawing/2014/main" id="{6BC74DAB-84BB-72CC-28C2-B5E3B78751A1}"/>
              </a:ext>
            </a:extLst>
          </p:cNvPr>
          <p:cNvPicPr>
            <a:picLocks noChangeAspect="1"/>
          </p:cNvPicPr>
          <p:nvPr/>
        </p:nvPicPr>
        <p:blipFill>
          <a:blip r:embed="rId4"/>
          <a:stretch>
            <a:fillRect/>
          </a:stretch>
        </p:blipFill>
        <p:spPr>
          <a:xfrm>
            <a:off x="1217295" y="2309813"/>
            <a:ext cx="13415010" cy="3731895"/>
          </a:xfrm>
          <a:prstGeom prst="rect">
            <a:avLst/>
          </a:prstGeom>
        </p:spPr>
      </p:pic>
      <p:pic>
        <p:nvPicPr>
          <p:cNvPr id="10" name="Picture 9">
            <a:extLst>
              <a:ext uri="{FF2B5EF4-FFF2-40B4-BE49-F238E27FC236}">
                <a16:creationId xmlns:a16="http://schemas.microsoft.com/office/drawing/2014/main" id="{F31AD40E-E9C6-BFF5-78FD-A981ADF24AFC}"/>
              </a:ext>
            </a:extLst>
          </p:cNvPr>
          <p:cNvPicPr>
            <a:picLocks noChangeAspect="1"/>
          </p:cNvPicPr>
          <p:nvPr/>
        </p:nvPicPr>
        <p:blipFill>
          <a:blip r:embed="rId5"/>
          <a:stretch>
            <a:fillRect/>
          </a:stretch>
        </p:blipFill>
        <p:spPr>
          <a:xfrm>
            <a:off x="2976563" y="6306503"/>
            <a:ext cx="9896475" cy="3648075"/>
          </a:xfrm>
          <a:prstGeom prst="rect">
            <a:avLst/>
          </a:prstGeom>
        </p:spPr>
      </p:pic>
    </p:spTree>
    <p:extLst>
      <p:ext uri="{BB962C8B-B14F-4D97-AF65-F5344CB8AC3E}">
        <p14:creationId xmlns:p14="http://schemas.microsoft.com/office/powerpoint/2010/main" val="4036034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1830941" y="527269"/>
            <a:ext cx="13191827"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Dimensionality Reduction </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74DA4775-2A4B-E527-277F-8C8EE43C6F54}"/>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D9F2DAE8-F98F-E6E1-E2EF-D77E49CAB306}"/>
              </a:ext>
            </a:extLst>
          </p:cNvPr>
          <p:cNvSpPr>
            <a:spLocks noGrp="1"/>
          </p:cNvSpPr>
          <p:nvPr>
            <p:ph idx="1"/>
          </p:nvPr>
        </p:nvSpPr>
        <p:spPr>
          <a:xfrm>
            <a:off x="1830940" y="2628900"/>
            <a:ext cx="12723259" cy="5867400"/>
          </a:xfrm>
        </p:spPr>
        <p:txBody>
          <a:bodyPr/>
          <a:lstStyle/>
          <a:p>
            <a:r>
              <a:rPr lang="en-US"/>
              <a:t>Reduces number of features while preserving important information </a:t>
            </a:r>
          </a:p>
          <a:p>
            <a:r>
              <a:rPr lang="en-US"/>
              <a:t>Applied </a:t>
            </a:r>
            <a:r>
              <a:rPr lang="en-US" b="1"/>
              <a:t>Principal Component Analysis (PCA)</a:t>
            </a:r>
            <a:r>
              <a:rPr lang="en-US"/>
              <a:t> in the project </a:t>
            </a:r>
          </a:p>
          <a:p>
            <a:r>
              <a:rPr lang="en-US"/>
              <a:t>Used to transform original audio features into fewer components </a:t>
            </a:r>
          </a:p>
          <a:p>
            <a:r>
              <a:rPr lang="en-US"/>
              <a:t>Helps handle weak correlations between features (as seen in analysis) </a:t>
            </a:r>
          </a:p>
          <a:p>
            <a:r>
              <a:rPr lang="en-US"/>
              <a:t>Simplifies complex dataset for easier analysis and visualization </a:t>
            </a:r>
          </a:p>
          <a:p>
            <a:r>
              <a:rPr lang="en-US"/>
              <a:t>Reduces noise and redundancy in the data </a:t>
            </a:r>
          </a:p>
          <a:p>
            <a:r>
              <a:rPr lang="en-US"/>
              <a:t>Improves efficiency of further analysis and modeling </a:t>
            </a:r>
          </a:p>
          <a:p>
            <a:r>
              <a:rPr lang="en-US"/>
              <a:t>Supports better understanding of overall music trends </a:t>
            </a:r>
          </a:p>
          <a:p>
            <a:pPr marL="0" indent="0">
              <a:buNone/>
            </a:pP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979216" y="52726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Key Insights / Results</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3D241C74-788B-CCCD-91F3-C0ED39E6B6D2}"/>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1">
            <a:extLst>
              <a:ext uri="{FF2B5EF4-FFF2-40B4-BE49-F238E27FC236}">
                <a16:creationId xmlns:a16="http://schemas.microsoft.com/office/drawing/2014/main" id="{CCD6710B-5A5D-13DA-CEF2-C87DE1E6F2C9}"/>
              </a:ext>
            </a:extLst>
          </p:cNvPr>
          <p:cNvSpPr>
            <a:spLocks noGrp="1" noChangeArrowheads="1"/>
          </p:cNvSpPr>
          <p:nvPr>
            <p:ph idx="1"/>
          </p:nvPr>
        </p:nvSpPr>
        <p:spPr bwMode="auto">
          <a:xfrm>
            <a:off x="1600199" y="1908602"/>
            <a:ext cx="1427349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a:ln>
                <a:noFill/>
              </a:ln>
              <a:solidFill>
                <a:schemeClr val="tx1"/>
              </a:solidFill>
              <a:effectLst/>
            </a:endParaRP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Certain </a:t>
            </a:r>
            <a:r>
              <a:rPr kumimoji="0" lang="en-US" altLang="en-US" i="0" u="none" strike="noStrike" cap="none" normalizeH="0" baseline="0">
                <a:ln>
                  <a:noFill/>
                </a:ln>
                <a:solidFill>
                  <a:schemeClr val="tx1"/>
                </a:solidFill>
                <a:effectLst/>
              </a:rPr>
              <a:t>genres dominate the dataset, </a:t>
            </a:r>
            <a:r>
              <a:rPr kumimoji="0" lang="en-US" altLang="en-US" b="0" i="0" u="none" strike="noStrike" cap="none" normalizeH="0" baseline="0">
                <a:ln>
                  <a:noFill/>
                </a:ln>
                <a:solidFill>
                  <a:schemeClr val="tx1"/>
                </a:solidFill>
                <a:effectLst/>
              </a:rPr>
              <a:t>showing higher listener preference </a:t>
            </a:r>
          </a:p>
          <a:p>
            <a:pPr eaLnBrk="0" fontAlgn="base" hangingPunct="0">
              <a:spcBef>
                <a:spcPct val="0"/>
              </a:spcBef>
              <a:spcAft>
                <a:spcPct val="0"/>
              </a:spcAft>
            </a:pPr>
            <a:r>
              <a:rPr kumimoji="0" lang="en-US" altLang="en-US" i="0" u="none" strike="noStrike" cap="none" normalizeH="0" baseline="0">
                <a:ln>
                  <a:noFill/>
                </a:ln>
                <a:solidFill>
                  <a:schemeClr val="tx1"/>
                </a:solidFill>
                <a:effectLst/>
              </a:rPr>
              <a:t>Popular genres consistently have higher average popularity scores </a:t>
            </a:r>
          </a:p>
          <a:p>
            <a:pPr eaLnBrk="0" fontAlgn="base" hangingPunct="0">
              <a:spcBef>
                <a:spcPct val="0"/>
              </a:spcBef>
              <a:spcAft>
                <a:spcPct val="0"/>
              </a:spcAft>
            </a:pPr>
            <a:r>
              <a:rPr kumimoji="0" lang="en-US" altLang="en-US" i="0" u="none" strike="noStrike" cap="none" normalizeH="0" baseline="0">
                <a:ln>
                  <a:noFill/>
                </a:ln>
                <a:solidFill>
                  <a:schemeClr val="tx1"/>
                </a:solidFill>
                <a:effectLst/>
              </a:rPr>
              <a:t>Music directors should focus on high-performing genres to match audience taste </a:t>
            </a:r>
          </a:p>
          <a:p>
            <a:pPr eaLnBrk="0" fontAlgn="base" hangingPunct="0">
              <a:spcBef>
                <a:spcPct val="0"/>
              </a:spcBef>
              <a:spcAft>
                <a:spcPct val="0"/>
              </a:spcAft>
            </a:pPr>
            <a:r>
              <a:rPr kumimoji="0" lang="en-US" altLang="en-US" i="0" u="none" strike="noStrike" cap="none" normalizeH="0" baseline="0">
                <a:ln>
                  <a:noFill/>
                </a:ln>
                <a:solidFill>
                  <a:schemeClr val="tx1"/>
                </a:solidFill>
                <a:effectLst/>
              </a:rPr>
              <a:t>Moderately energetic and danceable songs are more preferred by listeners </a:t>
            </a:r>
          </a:p>
          <a:p>
            <a:pPr eaLnBrk="0" fontAlgn="base" hangingPunct="0">
              <a:spcBef>
                <a:spcPct val="0"/>
              </a:spcBef>
              <a:spcAft>
                <a:spcPct val="0"/>
              </a:spcAft>
            </a:pPr>
            <a:r>
              <a:rPr kumimoji="0" lang="en-US" altLang="en-US" i="0" u="none" strike="noStrike" cap="none" normalizeH="0" baseline="0">
                <a:ln>
                  <a:noFill/>
                </a:ln>
                <a:solidFill>
                  <a:schemeClr val="tx1"/>
                </a:solidFill>
                <a:effectLst/>
              </a:rPr>
              <a:t>Audience preference is not random — it follows clear genre trends </a:t>
            </a:r>
          </a:p>
          <a:p>
            <a:pPr eaLnBrk="0" fontAlgn="base" hangingPunct="0">
              <a:spcBef>
                <a:spcPct val="0"/>
              </a:spcBef>
              <a:spcAft>
                <a:spcPct val="0"/>
              </a:spcAft>
            </a:pPr>
            <a:r>
              <a:rPr kumimoji="0" lang="en-US" altLang="en-US" i="0" u="none" strike="noStrike" cap="none" normalizeH="0" baseline="0">
                <a:ln>
                  <a:noFill/>
                </a:ln>
                <a:solidFill>
                  <a:schemeClr val="tx1"/>
                </a:solidFill>
                <a:effectLst/>
              </a:rPr>
              <a:t>Trends change over time, so genre popularity should be monitored regularly </a:t>
            </a:r>
          </a:p>
          <a:p>
            <a:pPr eaLnBrk="0" fontAlgn="base" hangingPunct="0">
              <a:spcBef>
                <a:spcPct val="0"/>
              </a:spcBef>
              <a:spcAft>
                <a:spcPct val="0"/>
              </a:spcAft>
            </a:pPr>
            <a:r>
              <a:rPr kumimoji="0" lang="en-US" altLang="en-US" i="0" u="none" strike="noStrike" cap="none" normalizeH="0" baseline="0">
                <a:ln>
                  <a:noFill/>
                </a:ln>
                <a:solidFill>
                  <a:schemeClr val="tx1"/>
                </a:solidFill>
                <a:effectLst/>
              </a:rPr>
              <a:t>Combining popular genre + suitable audio features (energy, danceability) increases success chances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a:p>
          <a:p>
            <a:pPr marL="0" lvl="0" indent="0" eaLnBrk="0" fontAlgn="base" hangingPunct="0">
              <a:spcBef>
                <a:spcPct val="0"/>
              </a:spcBef>
              <a:spcAft>
                <a:spcPct val="0"/>
              </a:spcAft>
              <a:buNone/>
            </a:pPr>
            <a:r>
              <a:rPr lang="en-US"/>
              <a:t>Overall, the project shows that </a:t>
            </a:r>
            <a:r>
              <a:rPr lang="en-US" b="1"/>
              <a:t>music success is driven by multiple factors and evolving audience behavior</a:t>
            </a:r>
            <a:endParaRPr kumimoji="0" lang="en-US" altLang="en-US" b="0" i="0" u="none" strike="noStrike" cap="none" normalizeH="0" baseline="0">
              <a:ln>
                <a:noFill/>
              </a:ln>
              <a:solidFill>
                <a:schemeClr val="tx1"/>
              </a:solidFill>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594655"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Visualization Dashboard</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5F61E7F3-2DD5-62E7-D4E8-58B93DD267BB}"/>
              </a:ext>
            </a:extLst>
          </p:cNvPr>
          <p:cNvSpPr/>
          <p:nvPr/>
        </p:nvSpPr>
        <p:spPr>
          <a:xfrm>
            <a:off x="17068800" y="-3810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a:extLst>
              <a:ext uri="{FF2B5EF4-FFF2-40B4-BE49-F238E27FC236}">
                <a16:creationId xmlns:a16="http://schemas.microsoft.com/office/drawing/2014/main" id="{7E4053C2-E07F-1172-6B0C-54DE2F9258EB}"/>
              </a:ext>
            </a:extLst>
          </p:cNvPr>
          <p:cNvPicPr>
            <a:picLocks noGrp="1" noChangeAspect="1" noChangeArrowheads="1"/>
          </p:cNvPicPr>
          <p:nvPr>
            <p:ph type="pic" idx="1"/>
          </p:nvPr>
        </p:nvPicPr>
        <p:blipFill rotWithShape="1">
          <a:blip r:embed="rId4">
            <a:extLst>
              <a:ext uri="{28A0092B-C50C-407E-A947-70E740481C1C}">
                <a14:useLocalDpi xmlns:a14="http://schemas.microsoft.com/office/drawing/2010/main" val="0"/>
              </a:ext>
            </a:extLst>
          </a:blip>
          <a:srcRect l="181" r="181"/>
          <a:stretch>
            <a:fillRect/>
          </a:stretch>
        </p:blipFill>
        <p:spPr bwMode="auto">
          <a:xfrm>
            <a:off x="1828800" y="1973327"/>
            <a:ext cx="13792200" cy="76659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FD9BE69E-A057-F55E-4D66-7CC405779E51}"/>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7B6219E3-98AC-0DE7-BF1C-41EAA44D6FFE}"/>
              </a:ext>
            </a:extLst>
          </p:cNvPr>
          <p:cNvSpPr txBox="1"/>
          <p:nvPr/>
        </p:nvSpPr>
        <p:spPr>
          <a:xfrm>
            <a:off x="2594655"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Visualization Dashboard</a:t>
            </a:r>
          </a:p>
        </p:txBody>
      </p:sp>
      <p:sp>
        <p:nvSpPr>
          <p:cNvPr id="6" name="Freeform 6">
            <a:extLst>
              <a:ext uri="{FF2B5EF4-FFF2-40B4-BE49-F238E27FC236}">
                <a16:creationId xmlns:a16="http://schemas.microsoft.com/office/drawing/2014/main" id="{231BDCEB-5F5F-DA73-D51A-5E1F08891665}"/>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688FF09C-7151-8FFC-F5B3-0204D9E4EDFC}"/>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AC5F7E9F-B47B-043B-E441-D1ADF0DF3B29}"/>
              </a:ext>
            </a:extLst>
          </p:cNvPr>
          <p:cNvSpPr/>
          <p:nvPr/>
        </p:nvSpPr>
        <p:spPr>
          <a:xfrm>
            <a:off x="17068800" y="-3810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a:extLst>
              <a:ext uri="{FF2B5EF4-FFF2-40B4-BE49-F238E27FC236}">
                <a16:creationId xmlns:a16="http://schemas.microsoft.com/office/drawing/2014/main" id="{228153F4-6A79-66C6-E7E2-51E351D9EA98}"/>
              </a:ext>
            </a:extLst>
          </p:cNvPr>
          <p:cNvPicPr>
            <a:picLocks noGrp="1" noChangeAspect="1" noChangeArrowheads="1"/>
          </p:cNvPicPr>
          <p:nvPr>
            <p:ph type="pic" idx="1"/>
          </p:nvPr>
        </p:nvPicPr>
        <p:blipFill rotWithShape="1">
          <a:blip r:embed="rId4">
            <a:extLst>
              <a:ext uri="{28A0092B-C50C-407E-A947-70E740481C1C}">
                <a14:useLocalDpi xmlns:a14="http://schemas.microsoft.com/office/drawing/2010/main" val="0"/>
              </a:ext>
            </a:extLst>
          </a:blip>
          <a:srcRect l="-15746" t="-17142" r="-7074" b="-5976"/>
          <a:stretch>
            <a:fillRect/>
          </a:stretch>
        </p:blipFill>
        <p:spPr bwMode="auto">
          <a:xfrm>
            <a:off x="-609600" y="612775"/>
            <a:ext cx="17830800" cy="925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236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a:extLst>
            <a:ext uri="{FF2B5EF4-FFF2-40B4-BE49-F238E27FC236}">
              <a16:creationId xmlns:a16="http://schemas.microsoft.com/office/drawing/2014/main" id="{1B465EA5-2569-6C4B-59A2-A7B9B83E8B64}"/>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2BD6420C-5E4F-9550-21CB-F3FAB9EE6E64}"/>
              </a:ext>
            </a:extLst>
          </p:cNvPr>
          <p:cNvSpPr txBox="1"/>
          <p:nvPr/>
        </p:nvSpPr>
        <p:spPr>
          <a:xfrm>
            <a:off x="2594655"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Visualization Dashboard</a:t>
            </a:r>
          </a:p>
        </p:txBody>
      </p:sp>
      <p:sp>
        <p:nvSpPr>
          <p:cNvPr id="6" name="Freeform 6">
            <a:extLst>
              <a:ext uri="{FF2B5EF4-FFF2-40B4-BE49-F238E27FC236}">
                <a16:creationId xmlns:a16="http://schemas.microsoft.com/office/drawing/2014/main" id="{28114985-CE02-F18B-F1EF-EBDE737ADD98}"/>
              </a:ext>
            </a:extLst>
          </p:cNvPr>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a:extLst>
              <a:ext uri="{FF2B5EF4-FFF2-40B4-BE49-F238E27FC236}">
                <a16:creationId xmlns:a16="http://schemas.microsoft.com/office/drawing/2014/main" id="{CC628B6C-07F9-776C-ED59-A07ADF5E054C}"/>
              </a:ext>
            </a:extLst>
          </p:cNvPr>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A7BD99BB-15CE-6120-2EAB-391B23CC90DF}"/>
              </a:ext>
            </a:extLst>
          </p:cNvPr>
          <p:cNvSpPr/>
          <p:nvPr/>
        </p:nvSpPr>
        <p:spPr>
          <a:xfrm>
            <a:off x="17068800" y="-3810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a:extLst>
              <a:ext uri="{FF2B5EF4-FFF2-40B4-BE49-F238E27FC236}">
                <a16:creationId xmlns:a16="http://schemas.microsoft.com/office/drawing/2014/main" id="{FEC4946E-33C7-F355-0AA5-126E269C328C}"/>
              </a:ext>
            </a:extLst>
          </p:cNvPr>
          <p:cNvPicPr>
            <a:picLocks noGrp="1" noChangeAspect="1" noChangeArrowheads="1"/>
          </p:cNvPicPr>
          <p:nvPr>
            <p:ph type="pic" idx="1"/>
          </p:nvPr>
        </p:nvPicPr>
        <p:blipFill rotWithShape="1">
          <a:blip r:embed="rId4">
            <a:extLst>
              <a:ext uri="{28A0092B-C50C-407E-A947-70E740481C1C}">
                <a14:useLocalDpi xmlns:a14="http://schemas.microsoft.com/office/drawing/2010/main" val="0"/>
              </a:ext>
            </a:extLst>
          </a:blip>
          <a:srcRect l="-308" r="1165"/>
          <a:stretch>
            <a:fillRect/>
          </a:stretch>
        </p:blipFill>
        <p:spPr bwMode="auto">
          <a:xfrm>
            <a:off x="1524000" y="1897127"/>
            <a:ext cx="14554200" cy="7437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008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594655"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Demo Video</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5"/>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6"/>
            <a:stretch>
              <a:fillRect l="-49650"/>
            </a:stretch>
          </a:blipFill>
        </p:spPr>
        <p:txBody>
          <a:bodyPr/>
          <a:lstStyle/>
          <a:p>
            <a:endParaRPr lang="en-IN"/>
          </a:p>
        </p:txBody>
      </p:sp>
      <p:sp>
        <p:nvSpPr>
          <p:cNvPr id="8" name="Rectangle 7">
            <a:extLst>
              <a:ext uri="{FF2B5EF4-FFF2-40B4-BE49-F238E27FC236}">
                <a16:creationId xmlns:a16="http://schemas.microsoft.com/office/drawing/2014/main" id="{8AF6C990-C9F2-9E2E-8894-D4AD3C4B972D}"/>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Spotify_demo">
            <a:hlinkClick r:id="" action="ppaction://media"/>
            <a:extLst>
              <a:ext uri="{FF2B5EF4-FFF2-40B4-BE49-F238E27FC236}">
                <a16:creationId xmlns:a16="http://schemas.microsoft.com/office/drawing/2014/main" id="{05A88F14-4B9F-64F0-BF4C-190EDE589EE8}"/>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828800" y="1941534"/>
            <a:ext cx="14630400" cy="800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530562"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Future Enhancements</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60B5C38D-4110-DF1C-4CF9-D10175D988C4}"/>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1">
            <a:extLst>
              <a:ext uri="{FF2B5EF4-FFF2-40B4-BE49-F238E27FC236}">
                <a16:creationId xmlns:a16="http://schemas.microsoft.com/office/drawing/2014/main" id="{2CCEB98E-CB35-F6A8-E54E-80439FBC0E0F}"/>
              </a:ext>
            </a:extLst>
          </p:cNvPr>
          <p:cNvSpPr>
            <a:spLocks noGrp="1" noChangeArrowheads="1"/>
          </p:cNvSpPr>
          <p:nvPr>
            <p:ph idx="1"/>
          </p:nvPr>
        </p:nvSpPr>
        <p:spPr bwMode="auto">
          <a:xfrm>
            <a:off x="1828800" y="2574430"/>
            <a:ext cx="13902936"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endParaRPr kumimoji="0" lang="en-US" altLang="en-US" b="0" i="0" u="none" strike="noStrike" cap="none" normalizeH="0" baseline="0">
              <a:ln>
                <a:noFill/>
              </a:ln>
              <a:solidFill>
                <a:schemeClr val="tx1"/>
              </a:solidFill>
              <a:effectLst/>
            </a:endParaRP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Apply machine learning models to </a:t>
            </a:r>
            <a:r>
              <a:rPr kumimoji="0" lang="en-US" altLang="en-US" b="1" i="0" u="none" strike="noStrike" cap="none" normalizeH="0" baseline="0">
                <a:ln>
                  <a:noFill/>
                </a:ln>
                <a:solidFill>
                  <a:schemeClr val="tx1"/>
                </a:solidFill>
                <a:effectLst/>
              </a:rPr>
              <a:t>predict song popularity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Build a </a:t>
            </a:r>
            <a:r>
              <a:rPr kumimoji="0" lang="en-US" altLang="en-US" b="1" i="0" u="none" strike="noStrike" cap="none" normalizeH="0" baseline="0">
                <a:ln>
                  <a:noFill/>
                </a:ln>
                <a:solidFill>
                  <a:schemeClr val="tx1"/>
                </a:solidFill>
                <a:effectLst/>
              </a:rPr>
              <a:t>music recommendation system</a:t>
            </a:r>
            <a:r>
              <a:rPr kumimoji="0" lang="en-US" altLang="en-US" b="0" i="0" u="none" strike="noStrike" cap="none" normalizeH="0" baseline="0">
                <a:ln>
                  <a:noFill/>
                </a:ln>
                <a:solidFill>
                  <a:schemeClr val="tx1"/>
                </a:solidFill>
                <a:effectLst/>
              </a:rPr>
              <a:t> for users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Use </a:t>
            </a:r>
            <a:r>
              <a:rPr kumimoji="0" lang="en-US" altLang="en-US" b="1" i="0" u="none" strike="noStrike" cap="none" normalizeH="0" baseline="0">
                <a:ln>
                  <a:noFill/>
                </a:ln>
                <a:solidFill>
                  <a:schemeClr val="tx1"/>
                </a:solidFill>
                <a:effectLst/>
              </a:rPr>
              <a:t>deep learning techniques</a:t>
            </a:r>
            <a:r>
              <a:rPr kumimoji="0" lang="en-US" altLang="en-US" b="0" i="0" u="none" strike="noStrike" cap="none" normalizeH="0" baseline="0">
                <a:ln>
                  <a:noFill/>
                </a:ln>
                <a:solidFill>
                  <a:schemeClr val="tx1"/>
                </a:solidFill>
                <a:effectLst/>
              </a:rPr>
              <a:t> for better pattern detection and accuracy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Integrate </a:t>
            </a:r>
            <a:r>
              <a:rPr kumimoji="0" lang="en-US" altLang="en-US" b="1" i="0" u="none" strike="noStrike" cap="none" normalizeH="0" baseline="0">
                <a:ln>
                  <a:noFill/>
                </a:ln>
                <a:solidFill>
                  <a:schemeClr val="tx1"/>
                </a:solidFill>
                <a:effectLst/>
              </a:rPr>
              <a:t>real-time streaming data</a:t>
            </a:r>
            <a:r>
              <a:rPr kumimoji="0" lang="en-US" altLang="en-US" b="0" i="0" u="none" strike="noStrike" cap="none" normalizeH="0" baseline="0">
                <a:ln>
                  <a:noFill/>
                </a:ln>
                <a:solidFill>
                  <a:schemeClr val="tx1"/>
                </a:solidFill>
                <a:effectLst/>
              </a:rPr>
              <a:t> for dynamic trend analysis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Expand dataset with </a:t>
            </a:r>
            <a:r>
              <a:rPr kumimoji="0" lang="en-US" altLang="en-US" b="1" i="0" u="none" strike="noStrike" cap="none" normalizeH="0" baseline="0">
                <a:ln>
                  <a:noFill/>
                </a:ln>
                <a:solidFill>
                  <a:schemeClr val="tx1"/>
                </a:solidFill>
                <a:effectLst/>
              </a:rPr>
              <a:t>lyrics, mood, and user behavior features</a:t>
            </a:r>
            <a:r>
              <a:rPr kumimoji="0" lang="en-US" altLang="en-US" b="0" i="0" u="none" strike="noStrike" cap="none" normalizeH="0" baseline="0">
                <a:ln>
                  <a:noFill/>
                </a:ln>
                <a:solidFill>
                  <a:schemeClr val="tx1"/>
                </a:solidFill>
                <a:effectLst/>
              </a:rPr>
              <a:t>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Develop </a:t>
            </a:r>
            <a:r>
              <a:rPr kumimoji="0" lang="en-US" altLang="en-US" b="1" i="0" u="none" strike="noStrike" cap="none" normalizeH="0" baseline="0">
                <a:ln>
                  <a:noFill/>
                </a:ln>
                <a:solidFill>
                  <a:schemeClr val="tx1"/>
                </a:solidFill>
                <a:effectLst/>
              </a:rPr>
              <a:t>interactive dashboards</a:t>
            </a:r>
            <a:r>
              <a:rPr kumimoji="0" lang="en-US" altLang="en-US" b="0" i="0" u="none" strike="noStrike" cap="none" normalizeH="0" baseline="0">
                <a:ln>
                  <a:noFill/>
                </a:ln>
                <a:solidFill>
                  <a:schemeClr val="tx1"/>
                </a:solidFill>
                <a:effectLst/>
              </a:rPr>
              <a:t> for better visualization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Incorporate </a:t>
            </a:r>
            <a:r>
              <a:rPr kumimoji="0" lang="en-US" altLang="en-US" b="1" i="0" u="none" strike="noStrike" cap="none" normalizeH="0" baseline="0">
                <a:ln>
                  <a:noFill/>
                </a:ln>
                <a:solidFill>
                  <a:schemeClr val="tx1"/>
                </a:solidFill>
                <a:effectLst/>
              </a:rPr>
              <a:t>user listening history</a:t>
            </a:r>
            <a:r>
              <a:rPr kumimoji="0" lang="en-US" altLang="en-US" b="0" i="0" u="none" strike="noStrike" cap="none" normalizeH="0" baseline="0">
                <a:ln>
                  <a:noFill/>
                </a:ln>
                <a:solidFill>
                  <a:schemeClr val="tx1"/>
                </a:solidFill>
                <a:effectLst/>
              </a:rPr>
              <a:t> for personalized recommendations </a:t>
            </a:r>
          </a:p>
          <a:p>
            <a:pPr eaLnBrk="0" fontAlgn="base" hangingPunct="0">
              <a:spcBef>
                <a:spcPct val="0"/>
              </a:spcBef>
              <a:spcAft>
                <a:spcPct val="0"/>
              </a:spcAft>
            </a:pPr>
            <a:r>
              <a:rPr kumimoji="0" lang="en-US" altLang="en-US" b="0" i="0" u="none" strike="noStrike" cap="none" normalizeH="0" baseline="0">
                <a:ln>
                  <a:noFill/>
                </a:ln>
                <a:solidFill>
                  <a:schemeClr val="tx1"/>
                </a:solidFill>
                <a:effectLst/>
              </a:rPr>
              <a:t>Perform </a:t>
            </a:r>
            <a:r>
              <a:rPr kumimoji="0" lang="en-US" altLang="en-US" b="1" i="0" u="none" strike="noStrike" cap="none" normalizeH="0" baseline="0">
                <a:ln>
                  <a:noFill/>
                </a:ln>
                <a:solidFill>
                  <a:schemeClr val="tx1"/>
                </a:solidFill>
                <a:effectLst/>
              </a:rPr>
              <a:t>region-wise and time-based analysis</a:t>
            </a:r>
            <a:r>
              <a:rPr kumimoji="0" lang="en-US" altLang="en-US" b="0" i="0" u="none" strike="noStrike" cap="none" normalizeH="0" baseline="0">
                <a:ln>
                  <a:noFill/>
                </a:ln>
                <a:solidFill>
                  <a:schemeClr val="tx1"/>
                </a:solidFill>
                <a:effectLst/>
              </a:rPr>
              <a:t> to capture changing preferences </a:t>
            </a:r>
          </a:p>
          <a:p>
            <a:pPr eaLnBrk="0" fontAlgn="base" hangingPunct="0">
              <a:spcBef>
                <a:spcPct val="0"/>
              </a:spcBef>
              <a:spcAft>
                <a:spcPct val="0"/>
              </a:spcAft>
            </a:pPr>
            <a:endParaRPr lang="en-US" altLang="en-US"/>
          </a:p>
          <a:p>
            <a:pPr marL="0" indent="0" eaLnBrk="0" fontAlgn="base" hangingPunct="0">
              <a:spcBef>
                <a:spcPct val="0"/>
              </a:spcBef>
              <a:spcAft>
                <a:spcPct val="0"/>
              </a:spcAft>
              <a:buNone/>
            </a:pPr>
            <a:endParaRPr kumimoji="0" lang="en-US" altLang="en-US" b="0" i="0" u="none" strike="noStrike" cap="none" normalizeH="0" baseline="0">
              <a:ln>
                <a:noFill/>
              </a:ln>
              <a:solidFill>
                <a:schemeClr val="tx1"/>
              </a:solidFill>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530562"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Individual Contribution</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2D8C66C2-5D79-CF0C-D1BB-EBB4900F374B}"/>
              </a:ext>
            </a:extLst>
          </p:cNvPr>
          <p:cNvSpPr/>
          <p:nvPr/>
        </p:nvSpPr>
        <p:spPr>
          <a:xfrm>
            <a:off x="17068800" y="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73F817AE-99AD-D56F-906E-B85BF7DDC68D}"/>
              </a:ext>
            </a:extLst>
          </p:cNvPr>
          <p:cNvGraphicFramePr>
            <a:graphicFrameLocks noGrp="1"/>
          </p:cNvGraphicFramePr>
          <p:nvPr>
            <p:extLst>
              <p:ext uri="{D42A27DB-BD31-4B8C-83A1-F6EECF244321}">
                <p14:modId xmlns:p14="http://schemas.microsoft.com/office/powerpoint/2010/main" val="3842209144"/>
              </p:ext>
            </p:extLst>
          </p:nvPr>
        </p:nvGraphicFramePr>
        <p:xfrm>
          <a:off x="3745169" y="2831822"/>
          <a:ext cx="10078331" cy="6342740"/>
        </p:xfrm>
        <a:graphic>
          <a:graphicData uri="http://schemas.openxmlformats.org/drawingml/2006/table">
            <a:tbl>
              <a:tblPr firstRow="1" firstCol="1" bandRow="1">
                <a:tableStyleId>{5C22544A-7EE6-4342-B048-85BDC9FD1C3A}</a:tableStyleId>
              </a:tblPr>
              <a:tblGrid>
                <a:gridCol w="2377076">
                  <a:extLst>
                    <a:ext uri="{9D8B030D-6E8A-4147-A177-3AD203B41FA5}">
                      <a16:colId xmlns:a16="http://schemas.microsoft.com/office/drawing/2014/main" val="4076969624"/>
                    </a:ext>
                  </a:extLst>
                </a:gridCol>
                <a:gridCol w="4009099">
                  <a:extLst>
                    <a:ext uri="{9D8B030D-6E8A-4147-A177-3AD203B41FA5}">
                      <a16:colId xmlns:a16="http://schemas.microsoft.com/office/drawing/2014/main" val="2941326319"/>
                    </a:ext>
                  </a:extLst>
                </a:gridCol>
                <a:gridCol w="3692156">
                  <a:extLst>
                    <a:ext uri="{9D8B030D-6E8A-4147-A177-3AD203B41FA5}">
                      <a16:colId xmlns:a16="http://schemas.microsoft.com/office/drawing/2014/main" val="269435613"/>
                    </a:ext>
                  </a:extLst>
                </a:gridCol>
              </a:tblGrid>
              <a:tr h="909437">
                <a:tc>
                  <a:txBody>
                    <a:bodyPr/>
                    <a:lstStyle/>
                    <a:p>
                      <a:pPr algn="ctr">
                        <a:buNone/>
                      </a:pPr>
                      <a:r>
                        <a:rPr lang="en-US" b="1">
                          <a:solidFill>
                            <a:schemeClr val="tx1"/>
                          </a:solidFill>
                          <a:effectLst/>
                          <a:latin typeface="Aptos Display"/>
                          <a:ea typeface="Yu Gothic Light"/>
                          <a:cs typeface="Times New Roman"/>
                        </a:rPr>
                        <a:t>Team Member</a:t>
                      </a:r>
                      <a:endParaRPr lang="en-US">
                        <a:solidFill>
                          <a:schemeClr val="tx1"/>
                        </a:solidFill>
                        <a:effectLst/>
                        <a:latin typeface="Aptos Display"/>
                        <a:ea typeface="Yu Gothic Light"/>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b="1">
                          <a:solidFill>
                            <a:schemeClr val="tx1"/>
                          </a:solidFill>
                          <a:effectLst/>
                          <a:latin typeface="Aptos Display"/>
                          <a:ea typeface="Yu Gothic Light"/>
                          <a:cs typeface="Times New Roman"/>
                        </a:rPr>
                        <a:t>Work Assigned</a:t>
                      </a:r>
                      <a:endParaRPr lang="en-US">
                        <a:solidFill>
                          <a:schemeClr val="tx1"/>
                        </a:solidFill>
                        <a:effectLst/>
                        <a:latin typeface="Aptos Display"/>
                        <a:ea typeface="Yu Gothic Light"/>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b="1">
                          <a:solidFill>
                            <a:schemeClr val="tx1"/>
                          </a:solidFill>
                          <a:effectLst/>
                          <a:latin typeface="Aptos Display"/>
                          <a:ea typeface="Yu Gothic Light"/>
                          <a:cs typeface="Times New Roman"/>
                        </a:rPr>
                        <a:t>Outcome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8191036"/>
                  </a:ext>
                </a:extLst>
              </a:tr>
              <a:tr h="1352496">
                <a:tc>
                  <a:txBody>
                    <a:bodyPr/>
                    <a:lstStyle/>
                    <a:p>
                      <a:pPr>
                        <a:buNone/>
                      </a:pPr>
                      <a:r>
                        <a:rPr lang="en-US">
                          <a:solidFill>
                            <a:schemeClr val="tx1"/>
                          </a:solidFill>
                          <a:effectLst/>
                          <a:latin typeface="Aptos Display"/>
                          <a:ea typeface="Yu Gothic Light"/>
                          <a:cs typeface="Times New Roman"/>
                        </a:rPr>
                        <a:t>Adhiraj</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a:ea typeface="Yu Gothic Light"/>
                          <a:cs typeface="Times New Roman"/>
                        </a:rPr>
                        <a:t>Interactive Dashboard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a:ea typeface="Yu Gothic Light"/>
                          <a:cs typeface="Times New Roman"/>
                        </a:rPr>
                        <a:t>Structured interactive Dashboard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1527687"/>
                  </a:ext>
                </a:extLst>
              </a:tr>
              <a:tr h="1818874">
                <a:tc>
                  <a:txBody>
                    <a:bodyPr/>
                    <a:lstStyle/>
                    <a:p>
                      <a:pPr>
                        <a:buNone/>
                      </a:pPr>
                      <a:r>
                        <a:rPr lang="en-US">
                          <a:solidFill>
                            <a:schemeClr val="tx1"/>
                          </a:solidFill>
                          <a:effectLst/>
                          <a:latin typeface="Aptos Display"/>
                          <a:ea typeface="Yu Gothic Light"/>
                          <a:cs typeface="Times New Roman"/>
                        </a:rPr>
                        <a:t>Janasree</a:t>
                      </a:r>
                      <a:endParaRPr lang="en-US" err="1">
                        <a:solidFill>
                          <a:schemeClr val="tx1"/>
                        </a:solidFill>
                        <a:effectLst/>
                        <a:latin typeface="Aptos Display"/>
                        <a:ea typeface="Yu Gothic Light"/>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a:ea typeface="Yu Gothic Light"/>
                          <a:cs typeface="Times New Roman"/>
                        </a:rPr>
                        <a:t>Code Recheck and Final report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US">
                        <a:effectLst/>
                        <a:latin typeface="Aptos Display"/>
                        <a:ea typeface="Yu Gothic Light"/>
                        <a:cs typeface="Times New Roman"/>
                      </a:endParaRPr>
                    </a:p>
                    <a:p>
                      <a:pPr lvl="0">
                        <a:buNone/>
                      </a:pPr>
                      <a:endParaRPr lang="en-US">
                        <a:effectLst/>
                        <a:latin typeface="Aptos Display"/>
                        <a:ea typeface="Yu Gothic Light"/>
                        <a:cs typeface="Times New Roman"/>
                      </a:endParaRPr>
                    </a:p>
                    <a:p>
                      <a:pPr lvl="0">
                        <a:buNone/>
                      </a:pPr>
                      <a:r>
                        <a:rPr lang="en-US">
                          <a:effectLst/>
                          <a:latin typeface="Aptos Display"/>
                          <a:ea typeface="Yu Gothic Light"/>
                          <a:cs typeface="Times New Roman"/>
                        </a:rPr>
                        <a:t>Verified Code for all weeks and helped with report</a:t>
                      </a:r>
                    </a:p>
                    <a:p>
                      <a:pPr>
                        <a:buNone/>
                      </a:pPr>
                      <a:endParaRPr lang="en-US">
                        <a:effectLst/>
                        <a:latin typeface="Aptos Display"/>
                        <a:ea typeface="Yu Gothic Light"/>
                        <a:cs typeface="Times New Roman"/>
                      </a:endParaRPr>
                    </a:p>
                    <a:p>
                      <a:pPr>
                        <a:buNone/>
                      </a:pPr>
                      <a:endParaRPr lang="en-US">
                        <a:effectLst/>
                        <a:latin typeface="Aptos Display"/>
                        <a:ea typeface="Yu Gothic Light"/>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7326182"/>
                  </a:ext>
                </a:extLst>
              </a:tr>
              <a:tr h="909437">
                <a:tc>
                  <a:txBody>
                    <a:bodyPr/>
                    <a:lstStyle/>
                    <a:p>
                      <a:pPr>
                        <a:buNone/>
                      </a:pPr>
                      <a:r>
                        <a:rPr lang="en-US">
                          <a:solidFill>
                            <a:schemeClr val="tx1"/>
                          </a:solidFill>
                          <a:effectLst/>
                          <a:latin typeface="Aptos Display"/>
                          <a:ea typeface="Yu Gothic Light"/>
                          <a:cs typeface="Times New Roman"/>
                        </a:rPr>
                        <a:t>Krithika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panose="020B0004020202020204" pitchFamily="34" charset="0"/>
                          <a:ea typeface="Yu Gothic Light" panose="020B0300000000000000" pitchFamily="34" charset="-128"/>
                          <a:cs typeface="Times New Roman" panose="02020603050405020304" pitchFamily="18" charset="0"/>
                        </a:rPr>
                        <a:t>Code correction and validation</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panose="020B0004020202020204" pitchFamily="34" charset="0"/>
                          <a:ea typeface="Yu Gothic Light" panose="020B0300000000000000" pitchFamily="34" charset="-128"/>
                          <a:cs typeface="Times New Roman" panose="02020603050405020304" pitchFamily="18" charset="0"/>
                        </a:rPr>
                        <a:t>Structured week 6 code completely</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8130549"/>
                  </a:ext>
                </a:extLst>
              </a:tr>
              <a:tr h="1352496">
                <a:tc>
                  <a:txBody>
                    <a:bodyPr/>
                    <a:lstStyle/>
                    <a:p>
                      <a:pPr>
                        <a:buNone/>
                      </a:pPr>
                      <a:r>
                        <a:rPr lang="en-US">
                          <a:solidFill>
                            <a:schemeClr val="tx1"/>
                          </a:solidFill>
                          <a:effectLst/>
                          <a:latin typeface="Aptos Display"/>
                          <a:ea typeface="Yu Gothic Light"/>
                          <a:cs typeface="Times New Roman"/>
                        </a:rPr>
                        <a:t>Madhusri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panose="020B0004020202020204" pitchFamily="34" charset="0"/>
                          <a:ea typeface="Yu Gothic Light" panose="020B0300000000000000" pitchFamily="34" charset="-128"/>
                          <a:cs typeface="Times New Roman" panose="02020603050405020304" pitchFamily="18" charset="0"/>
                        </a:rPr>
                        <a:t>Code Implementation</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latin typeface="Aptos Display" panose="020B0004020202020204" pitchFamily="34" charset="0"/>
                          <a:ea typeface="Yu Gothic Light" panose="020B0300000000000000" pitchFamily="34" charset="-128"/>
                          <a:cs typeface="Times New Roman" panose="02020603050405020304" pitchFamily="18" charset="0"/>
                        </a:rPr>
                        <a:t>Verified the correctness of the code</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4341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
        <p:cNvGrpSpPr/>
        <p:nvPr/>
      </p:nvGrpSpPr>
      <p:grpSpPr>
        <a:xfrm>
          <a:off x="0" y="0"/>
          <a:ext cx="0" cy="0"/>
          <a:chOff x="0" y="0"/>
          <a:chExt cx="0" cy="0"/>
        </a:xfrm>
      </p:grpSpPr>
      <p:sp>
        <p:nvSpPr>
          <p:cNvPr id="5" name="TextBox 5"/>
          <p:cNvSpPr txBox="1"/>
          <p:nvPr/>
        </p:nvSpPr>
        <p:spPr>
          <a:xfrm>
            <a:off x="2530562" y="423159"/>
            <a:ext cx="11499175" cy="1002861"/>
          </a:xfrm>
          <a:prstGeom prst="rect">
            <a:avLst/>
          </a:prstGeom>
        </p:spPr>
        <p:txBody>
          <a:bodyPr lIns="0" tIns="0" rIns="0" bIns="0" rtlCol="0" anchor="t">
            <a:spAutoFit/>
          </a:bodyPr>
          <a:lstStyle/>
          <a:p>
            <a:pPr algn="ctr">
              <a:lnSpc>
                <a:spcPts val="7534"/>
              </a:lnSpc>
            </a:pPr>
            <a:r>
              <a:rPr lang="en-US" sz="6609" b="1">
                <a:solidFill>
                  <a:srgbClr val="303870"/>
                </a:solidFill>
                <a:latin typeface="Times New Roman Bold"/>
                <a:ea typeface="Times New Roman Bold"/>
                <a:cs typeface="Times New Roman Bold"/>
                <a:sym typeface="Times New Roman Bold"/>
              </a:rPr>
              <a:t>Conclusion and References</a:t>
            </a:r>
          </a:p>
        </p:txBody>
      </p:sp>
      <p:sp>
        <p:nvSpPr>
          <p:cNvPr id="6" name="Freeform 6"/>
          <p:cNvSpPr/>
          <p:nvPr/>
        </p:nvSpPr>
        <p:spPr>
          <a:xfrm>
            <a:off x="513025" y="83497"/>
            <a:ext cx="1696510" cy="1682187"/>
          </a:xfrm>
          <a:custGeom>
            <a:avLst/>
            <a:gdLst/>
            <a:ahLst/>
            <a:cxnLst/>
            <a:rect l="l" t="t" r="r" b="b"/>
            <a:pathLst>
              <a:path w="1696510" h="1682187">
                <a:moveTo>
                  <a:pt x="0" y="0"/>
                </a:moveTo>
                <a:lnTo>
                  <a:pt x="1696510" y="0"/>
                </a:lnTo>
                <a:lnTo>
                  <a:pt x="1696510" y="1682187"/>
                </a:lnTo>
                <a:lnTo>
                  <a:pt x="0" y="1682187"/>
                </a:lnTo>
                <a:lnTo>
                  <a:pt x="0" y="0"/>
                </a:lnTo>
                <a:close/>
              </a:path>
            </a:pathLst>
          </a:custGeom>
          <a:blipFill>
            <a:blip r:embed="rId2"/>
            <a:stretch>
              <a:fillRect l="-15024" t="-4281" r="-276418" b="-4281"/>
            </a:stretch>
          </a:blipFill>
        </p:spPr>
        <p:txBody>
          <a:bodyPr/>
          <a:lstStyle/>
          <a:p>
            <a:endParaRPr lang="en-IN"/>
          </a:p>
        </p:txBody>
      </p:sp>
      <p:sp>
        <p:nvSpPr>
          <p:cNvPr id="7" name="Freeform 7"/>
          <p:cNvSpPr/>
          <p:nvPr/>
        </p:nvSpPr>
        <p:spPr>
          <a:xfrm>
            <a:off x="13231962" y="291716"/>
            <a:ext cx="3581611" cy="1473968"/>
          </a:xfrm>
          <a:custGeom>
            <a:avLst/>
            <a:gdLst/>
            <a:ahLst/>
            <a:cxnLst/>
            <a:rect l="l" t="t" r="r" b="b"/>
            <a:pathLst>
              <a:path w="3581611" h="1473968">
                <a:moveTo>
                  <a:pt x="0" y="0"/>
                </a:moveTo>
                <a:lnTo>
                  <a:pt x="3581611" y="0"/>
                </a:lnTo>
                <a:lnTo>
                  <a:pt x="3581611" y="1473968"/>
                </a:lnTo>
                <a:lnTo>
                  <a:pt x="0" y="1473968"/>
                </a:lnTo>
                <a:lnTo>
                  <a:pt x="0" y="0"/>
                </a:lnTo>
                <a:close/>
              </a:path>
            </a:pathLst>
          </a:custGeom>
          <a:blipFill>
            <a:blip r:embed="rId3"/>
            <a:stretch>
              <a:fillRect l="-49650"/>
            </a:stretch>
          </a:blipFill>
        </p:spPr>
        <p:txBody>
          <a:bodyPr/>
          <a:lstStyle/>
          <a:p>
            <a:endParaRPr lang="en-IN"/>
          </a:p>
        </p:txBody>
      </p:sp>
      <p:sp>
        <p:nvSpPr>
          <p:cNvPr id="8" name="Rectangle 7">
            <a:extLst>
              <a:ext uri="{FF2B5EF4-FFF2-40B4-BE49-F238E27FC236}">
                <a16:creationId xmlns:a16="http://schemas.microsoft.com/office/drawing/2014/main" id="{5AEBD4A3-99B8-030F-8BF2-B41AF411161E}"/>
              </a:ext>
            </a:extLst>
          </p:cNvPr>
          <p:cNvSpPr/>
          <p:nvPr/>
        </p:nvSpPr>
        <p:spPr>
          <a:xfrm>
            <a:off x="17068800" y="-38100"/>
            <a:ext cx="1219200" cy="10287000"/>
          </a:xfrm>
          <a:prstGeom prst="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0837FF95-DE8E-A547-39B2-A89732788F08}"/>
              </a:ext>
            </a:extLst>
          </p:cNvPr>
          <p:cNvSpPr>
            <a:spLocks noGrp="1"/>
          </p:cNvSpPr>
          <p:nvPr>
            <p:ph idx="1"/>
          </p:nvPr>
        </p:nvSpPr>
        <p:spPr>
          <a:xfrm>
            <a:off x="1600200" y="2247900"/>
            <a:ext cx="14097000" cy="6629400"/>
          </a:xfrm>
        </p:spPr>
        <p:txBody>
          <a:bodyPr>
            <a:normAutofit/>
          </a:bodyPr>
          <a:lstStyle/>
          <a:p>
            <a:pPr marL="0" indent="0">
              <a:buNone/>
            </a:pPr>
            <a:r>
              <a:rPr lang="en-US" sz="3000"/>
              <a:t>                This project focuses on analyzing Spotify music trends using a real-world dataset to understand how music preferences have evolved over time. It involves data preprocessing, handling missing values using mean imputation, outlier detection, and exploratory data analysis (EDA). The study examines relationships between audio features like energy, danceability, tempo, and popularity. Feature engineering techniques were also applied to improve data quality. The project successfully identifies patterns, trends, and key factors influencing music popularity.</a:t>
            </a:r>
            <a:endParaRPr lang="en-IN" sz="3000" b="1"/>
          </a:p>
          <a:p>
            <a:pPr marL="0" indent="0">
              <a:buNone/>
            </a:pPr>
            <a:r>
              <a:rPr lang="en-IN" sz="3000" b="1"/>
              <a:t>REFERENCES:</a:t>
            </a:r>
          </a:p>
          <a:p>
            <a:pPr marL="0" indent="0">
              <a:buNone/>
            </a:pPr>
            <a:r>
              <a:rPr lang="en-US" sz="2800"/>
              <a:t>Spotify Music Trends Dataset (Kaggle)</a:t>
            </a:r>
            <a:endParaRPr lang="en-IN" sz="2800" b="1"/>
          </a:p>
          <a:p>
            <a:pPr marL="0" indent="0">
              <a:buNone/>
            </a:pPr>
            <a:r>
              <a:rPr lang="en-US" sz="2800"/>
              <a:t>Dataset link:</a:t>
            </a:r>
          </a:p>
          <a:p>
            <a:pPr marL="0" indent="0">
              <a:buNone/>
            </a:pPr>
            <a:r>
              <a:rPr lang="en-US" sz="2800">
                <a:hlinkClick r:id="rId4"/>
              </a:rPr>
              <a:t>https://drive.google.com/file/d/1Tg8PsIE0QLwRdZzDV8T1nD1aMzpvKsk/view?usp=drivesdk</a:t>
            </a:r>
            <a:endParaRPr lang="en-US" sz="2800"/>
          </a:p>
          <a:p>
            <a:pPr marL="0" indent="0">
              <a:buNone/>
            </a:pPr>
            <a:r>
              <a:rPr lang="en-US" sz="2800" err="1"/>
              <a:t>Github</a:t>
            </a:r>
            <a:r>
              <a:rPr lang="en-US" sz="2800"/>
              <a:t> link:</a:t>
            </a:r>
          </a:p>
          <a:p>
            <a:pPr marL="0" indent="0">
              <a:buNone/>
            </a:pPr>
            <a:r>
              <a:rPr lang="en-US" sz="2800">
                <a:hlinkClick r:id="rId5"/>
              </a:rPr>
              <a:t>https://github.com/JANASREE-P/24ADI004_DSV_TEAM4.git</a:t>
            </a:r>
            <a:endParaRPr lang="en-US" sz="2800"/>
          </a:p>
          <a:p>
            <a:pPr marL="0" indent="0">
              <a:buNone/>
            </a:pPr>
            <a:endParaRPr lang="en-IN" sz="2800" b="1"/>
          </a:p>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4fcd929-3be6-423e-a864-d41fed1ad2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6C3FDD7F929247AE1102CAAAB81B02" ma:contentTypeVersion="6" ma:contentTypeDescription="Create a new document." ma:contentTypeScope="" ma:versionID="7a8cae2dff1031a4588e949d4e4236a5">
  <xsd:schema xmlns:xsd="http://www.w3.org/2001/XMLSchema" xmlns:xs="http://www.w3.org/2001/XMLSchema" xmlns:p="http://schemas.microsoft.com/office/2006/metadata/properties" xmlns:ns3="44fcd929-3be6-423e-a864-d41fed1ad26c" targetNamespace="http://schemas.microsoft.com/office/2006/metadata/properties" ma:root="true" ma:fieldsID="a37b10babdddef7d0bbbf9b8e2764678" ns3:_="">
    <xsd:import namespace="44fcd929-3be6-423e-a864-d41fed1ad26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fcd929-3be6-423e-a864-d41fed1ad26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F834B3-CC15-4DDA-8769-F948BD8A8F53}">
  <ds:schemaRefs>
    <ds:schemaRef ds:uri="http://schemas.microsoft.com/sharepoint/v3/contenttype/forms"/>
  </ds:schemaRefs>
</ds:datastoreItem>
</file>

<file path=customXml/itemProps2.xml><?xml version="1.0" encoding="utf-8"?>
<ds:datastoreItem xmlns:ds="http://schemas.openxmlformats.org/officeDocument/2006/customXml" ds:itemID="{6258F2FB-3A57-4DF9-9B31-E518BA03F2FA}">
  <ds:schemaRefs>
    <ds:schemaRef ds:uri="44fcd929-3be6-423e-a864-d41fed1ad26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8B5ECA2-E704-414A-9654-5F679E94D39E}">
  <ds:schemaRefs>
    <ds:schemaRef ds:uri="44fcd929-3be6-423e-a864-d41fed1ad26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28</Slides>
  <Notes>1</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Number:</dc:title>
  <dc:creator>PRADEEP MANIKANDAN D</dc:creator>
  <cp:revision>5</cp:revision>
  <dcterms:created xsi:type="dcterms:W3CDTF">2006-08-16T00:00:00Z</dcterms:created>
  <dcterms:modified xsi:type="dcterms:W3CDTF">2026-04-16T05:26:51Z</dcterms:modified>
  <dc:identifier>DAHGj3L43lA</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0x0101001A6C3FDD7F929247AE1102CAAAB81B02</vt:lpwstr>
  </property>
</Properties>
</file>